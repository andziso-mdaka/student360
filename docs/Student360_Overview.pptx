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c3f009d-33c8-9f7a-a05e-1206b4801cbc}">
          <p14:sldIdLst>
            <p14:sldId id="256"/>
            <p14:sldId id="257"/>
          </p14:sldIdLst>
        </p14:section>
        <p14:section name="The product" id="{fe67e83f-925d-211d-4f76-4903181067ca}">
          <p14:sldIdLst>
            <p14:sldId id="258"/>
            <p14:sldId id="259"/>
            <p14:sldId id="260"/>
            <p14:sldId id="261"/>
          </p14:sldIdLst>
        </p14:section>
        <p14:section name="Trust and privacy" id="{1496cf31-ad19-3967-c811-ff108dd92393}">
          <p14:sldIdLst>
            <p14:sldId id="262"/>
            <p14:sldId id="263"/>
            <p14:sldId id="264"/>
          </p14:sldIdLst>
        </p14:section>
        <p14:section name="Under the hood" id="{05885465-8cdb-cb7e-a2eb-f249bb0827eb}">
          <p14:sldIdLst>
            <p14:sldId id="265"/>
            <p14:sldId id="266"/>
          </p14:sldIdLst>
        </p14:section>
        <p14:section name="Next steps" id="{4ac45a55-6a95-7218-4237-2d272550d46d}">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Student360 is a working prototype of a case management platform for NSFAS-related student data. Everything you will see uses synthetic data only. The goal: replace spreadsheet-led processes with something that controls who sees what, tracks work, and proves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storage. Excel stores data fine. The problem is control: copies, no field-level permissions, manual follow-ups, and no trustworthy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from the pitch deck. Each one only gets what its job needs. The "can't" line matters as much as the "can": it is enforced by the database, not by hiding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manager home screen. Every number is clickable and drills into the records behind it. The figures shown are from synthetic demo data, not real NSFAS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sign in as the case officer, open a student, click Reveal. A reason is required, the value shows for 60 seconds, and the action appears in the audit log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as the administrator and click "Try the sample file". Every problem a messy institution spreadsheet typically has gets caught, explained, and kept out. Only clean rows are imported, and the server re-checks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forwarded spreadsheet can identify a student when a cell says "1". Student360 suppresses small counts automatically, including back-calculation through row totals. Managers can preview without suppression, but exports always apply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on the Audit log, click "Simulate someone editing entry #2", then "Verify chain". The check runs in the database and names entry 2 as altered. "Undo the edit" restores it. Outside the demo, the log rejects edits and deletes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Mapped to the six principles in the original pitch. Four are working in the prototype. Two need the client: we do not claim "POPIA compliant" without a documented assessment and sign-off by the client's information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decision: security lives in the database. The front end is just a view. Supabase (Postgres) enforces Row Level Security per role, column privileges hide personal fields, and all writes go through SQL functions that check the role and write the audit entry in the same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Excel: it is great for analysis. The gap is everything around the data: who can see a field, who owns a follow-up, what got imported, and whether the history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path from prototype to pilot. The prototype proves the workflow and the safeguards; these steps turn it into something a client can sign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206240" cy="9144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286000"/>
            <a:ext cx="402336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586966"/>
                </a:solidFill>
              </a:rPr>
              <a:t>Student360  ·  Mdaka Advanced Technologies</a:t>
            </a:r>
            <a:endParaRPr lang="en-US" sz="1000" dirty="0"/>
          </a:p>
        </p:txBody>
      </p:sp>
      <p:sp>
        <p:nvSpPr>
          <p:cNvPr id="3" name="Text 1"/>
          <p:cNvSpPr/>
          <p:nvPr>
            <p:ph idx="101" type="title" hasCustomPrompt="1"/>
          </p:nvPr>
        </p:nvSpPr>
        <p:spPr>
          <a:xfrm>
            <a:off x="457200" y="292608"/>
            <a:ext cx="8229600"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2"/>
                </a:solidFill>
              </a:rPr>
              <a:t>Student360  ·  Mdaka Advanced Technologies</a:t>
            </a:r>
            <a:endParaRPr lang="en-US" sz="1000" dirty="0"/>
          </a:p>
        </p:txBody>
      </p:sp>
      <p:sp>
        <p:nvSpPr>
          <p:cNvPr id="3" name="Text 1"/>
          <p:cNvSpPr/>
          <p:nvPr>
            <p:ph idx="101" type="title" hasCustomPrompt="1"/>
          </p:nvPr>
        </p:nvSpPr>
        <p:spPr>
          <a:xfrm>
            <a:off x="457200" y="292608"/>
            <a:ext cx="822960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DB5A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206240" cy="914400"/>
          </a:xfrm>
          <a:prstGeom prst="rect">
            <a:avLst/>
          </a:prstGeom>
          <a:noFill/>
          <a:ln/>
        </p:spPr>
        <p:txBody>
          <a:bodyPr wrap="square" lIns="0" tIns="0" rIns="0" bIns="0" rtlCol="0" anchor="b"/>
          <a:lstStyle/>
          <a:p>
            <a:pPr algn="l" indent="0" marL="0">
              <a:buNone/>
            </a:pPr>
            <a:r>
              <a:rPr lang="en-US" sz="5400" b="1" dirty="0">
                <a:solidFill>
                  <a:schemeClr val="bg1"/>
                </a:solidFill>
              </a:rPr>
              <a:t>Student</a:t>
            </a:r>
            <a:pPr algn="l" indent="0" marL="0">
              <a:buNone/>
            </a:pPr>
            <a:r>
              <a:rPr lang="en-US" sz="5400" b="1" dirty="0">
                <a:solidFill>
                  <a:schemeClr val="accent2"/>
                </a:solidFill>
              </a:rPr>
              <a:t>360</a:t>
            </a:r>
            <a:endParaRPr lang="en-US" sz="5400" dirty="0"/>
          </a:p>
        </p:txBody>
      </p:sp>
      <p:sp>
        <p:nvSpPr>
          <p:cNvPr id="3" name="Text 0"/>
          <p:cNvSpPr/>
          <p:nvPr>
            <p:ph idx="101" type="body" hasCustomPrompt="1"/>
          </p:nvPr>
        </p:nvSpPr>
        <p:spPr>
          <a:xfrm>
            <a:off x="548640" y="2286000"/>
            <a:ext cx="4023360" cy="1097280"/>
          </a:xfrm>
          <a:prstGeom prst="rect">
            <a:avLst/>
          </a:prstGeom>
          <a:noFill/>
          <a:ln/>
        </p:spPr>
        <p:txBody>
          <a:bodyPr wrap="square" lIns="0" tIns="0" rIns="0" bIns="0" rtlCol="0" anchor="t"/>
          <a:lstStyle/>
          <a:p>
            <a:pPr algn="l" indent="0" marL="0">
              <a:buNone/>
            </a:pPr>
            <a:r>
              <a:rPr lang="en-US" sz="2000" dirty="0">
                <a:solidFill>
                  <a:schemeClr val="bg2"/>
                </a:solidFill>
              </a:rPr>
              <a:t>Secure student case management for NSFAS-related operations</a:t>
            </a:r>
            <a:endParaRPr lang="en-US" sz="2000" dirty="0"/>
          </a:p>
        </p:txBody>
      </p:sp>
      <p:sp>
        <p:nvSpPr>
          <p:cNvPr id="4" name="Text 2"/>
          <p:cNvSpPr txBox="1"/>
          <p:nvPr/>
        </p:nvSpPr>
        <p:spPr>
          <a:xfrm>
            <a:off x="548640" y="4160520"/>
            <a:ext cx="4023360" cy="274320"/>
          </a:xfrm>
          <a:prstGeom prst="rect">
            <a:avLst/>
          </a:prstGeom>
          <a:noFill/>
          <a:ln/>
        </p:spPr>
        <p:txBody>
          <a:bodyPr wrap="square" lIns="0" tIns="0" rIns="0" bIns="0" rtlCol="0" anchor="t"/>
          <a:lstStyle/>
          <a:p>
            <a:pPr indent="0" marL="0">
              <a:buNone/>
            </a:pPr>
            <a:r>
              <a:rPr lang="en-US" sz="1200" dirty="0">
                <a:solidFill>
                  <a:schemeClr val="accent2"/>
                </a:solidFill>
              </a:rPr>
              <a:t>Working prototype  ·  Synthetic data only</a:t>
            </a:r>
            <a:endParaRPr lang="en-US" sz="1200" dirty="0"/>
          </a:p>
        </p:txBody>
      </p:sp>
      <p:sp>
        <p:nvSpPr>
          <p:cNvPr id="5" name="Text 3"/>
          <p:cNvSpPr txBox="1"/>
          <p:nvPr/>
        </p:nvSpPr>
        <p:spPr>
          <a:xfrm>
            <a:off x="548640" y="4434840"/>
            <a:ext cx="4023360" cy="274320"/>
          </a:xfrm>
          <a:prstGeom prst="rect">
            <a:avLst/>
          </a:prstGeom>
          <a:noFill/>
          <a:ln/>
        </p:spPr>
        <p:txBody>
          <a:bodyPr wrap="square" lIns="0" tIns="0" rIns="0" bIns="0" rtlCol="0" anchor="t"/>
          <a:lstStyle/>
          <a:p>
            <a:pPr indent="0" marL="0">
              <a:buNone/>
            </a:pPr>
            <a:r>
              <a:rPr lang="en-US" sz="1200" dirty="0">
                <a:solidFill>
                  <a:schemeClr val="bg2"/>
                </a:solidFill>
              </a:rPr>
              <a:t>Mdaka Advanced Technologies</a:t>
            </a:r>
            <a:endParaRPr lang="en-US" sz="1200" dirty="0"/>
          </a:p>
        </p:txBody>
      </p:sp>
      <p:sp>
        <p:nvSpPr>
          <p:cNvPr id="6" name="Operations overview screenshot frame"/>
          <p:cNvSpPr/>
          <p:nvPr/>
        </p:nvSpPr>
        <p:spPr>
          <a:xfrm>
            <a:off x="4892040" y="1325880"/>
            <a:ext cx="3886200" cy="2105025"/>
          </a:xfrm>
          <a:prstGeom prst="rect">
            <a:avLst/>
          </a:prstGeom>
          <a:solidFill>
            <a:schemeClr val="bg1"/>
          </a:solidFill>
          <a:ln w="9525">
            <a:solidFill>
              <a:srgbClr val="D9E1DE"/>
            </a:solidFill>
            <a:prstDash val="solid"/>
          </a:ln>
          <a:effectLst>
            <a:outerShdw sx="100000" sy="100000" kx="0" ky="0" algn="bl" rotWithShape="0" blurRad="101600" dist="25400" dir="5400000">
              <a:srgbClr val="000000">
                <a:alpha val="18000"/>
              </a:srgbClr>
            </a:outerShdw>
          </a:effectLst>
        </p:spPr>
      </p:sp>
      <p:pic>
        <p:nvPicPr>
          <p:cNvPr id="7" name="Operations overview screenshot" descr="Operations overview screenshot">    </p:cNvPr>
          <p:cNvPicPr>
            <a:picLocks noChangeAspect="1"/>
          </p:cNvPicPr>
          <p:nvPr/>
        </p:nvPicPr>
        <p:blipFill>
          <a:blip r:embed="rId1"/>
          <a:stretch>
            <a:fillRect/>
          </a:stretch>
        </p:blipFill>
        <p:spPr>
          <a:xfrm>
            <a:off x="4892040" y="1325880"/>
            <a:ext cx="3886200" cy="21050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Spreadsheets store data, not control</a:t>
            </a:r>
            <a:endParaRPr lang="en-US" sz="3200" dirty="0"/>
          </a:p>
        </p:txBody>
      </p:sp>
      <p:sp>
        <p:nvSpPr>
          <p:cNvPr id="3" name="problem card 1"/>
          <p:cNvSpPr/>
          <p:nvPr/>
        </p:nvSpPr>
        <p:spPr>
          <a:xfrm>
            <a:off x="457200" y="1188720"/>
            <a:ext cx="3977640" cy="1508760"/>
          </a:xfrm>
          <a:prstGeom prst="roundRect">
            <a:avLst>
              <a:gd name="adj" fmla="val 4848"/>
            </a:avLst>
          </a:prstGeom>
          <a:solidFill>
            <a:schemeClr val="bg2"/>
          </a:solidFill>
          <a:ln/>
        </p:spPr>
      </p:sp>
      <p:sp>
        <p:nvSpPr>
          <p:cNvPr id="4" name="problem 1 circle"/>
          <p:cNvSpPr/>
          <p:nvPr/>
        </p:nvSpPr>
        <p:spPr>
          <a:xfrm>
            <a:off x="731520" y="1481328"/>
            <a:ext cx="548640" cy="548640"/>
          </a:xfrm>
          <a:prstGeom prst="ellipse">
            <a:avLst/>
          </a:prstGeom>
          <a:solidFill>
            <a:schemeClr val="accent4"/>
          </a:solidFill>
          <a:ln/>
        </p:spPr>
      </p:sp>
      <p:pic>
        <p:nvPicPr>
          <p:cNvPr id="5" name="problem 1 glyph" descr="preencoded.png">    </p:cNvPr>
          <p:cNvPicPr>
            <a:picLocks noChangeAspect="1"/>
          </p:cNvPicPr>
          <p:nvPr/>
        </p:nvPicPr>
        <p:blipFill>
          <a:blip r:embed="rId1"/>
          <a:stretch>
            <a:fillRect/>
          </a:stretch>
        </p:blipFill>
        <p:spPr>
          <a:xfrm>
            <a:off x="868680" y="1618488"/>
            <a:ext cx="274320" cy="274320"/>
          </a:xfrm>
          <a:prstGeom prst="rect">
            <a:avLst/>
          </a:prstGeom>
        </p:spPr>
      </p:pic>
      <p:sp>
        <p:nvSpPr>
          <p:cNvPr id="6" name="Text 3"/>
          <p:cNvSpPr txBox="1"/>
          <p:nvPr/>
        </p:nvSpPr>
        <p:spPr>
          <a:xfrm>
            <a:off x="1508760" y="1463040"/>
            <a:ext cx="2697480" cy="320040"/>
          </a:xfrm>
          <a:prstGeom prst="rect">
            <a:avLst/>
          </a:prstGeom>
          <a:noFill/>
          <a:ln/>
        </p:spPr>
        <p:txBody>
          <a:bodyPr wrap="square" lIns="0" tIns="0" rIns="0" bIns="0" rtlCol="0" anchor="t"/>
          <a:lstStyle/>
          <a:p>
            <a:pPr indent="0" marL="0">
              <a:buNone/>
            </a:pPr>
            <a:r>
              <a:rPr lang="en-US" sz="1700" b="1" dirty="0">
                <a:solidFill>
                  <a:schemeClr val="tx1"/>
                </a:solidFill>
              </a:rPr>
              <a:t>Copies everywhere</a:t>
            </a:r>
            <a:endParaRPr lang="en-US" sz="1700" dirty="0"/>
          </a:p>
        </p:txBody>
      </p:sp>
      <p:sp>
        <p:nvSpPr>
          <p:cNvPr id="7" name="Text 4"/>
          <p:cNvSpPr txBox="1"/>
          <p:nvPr/>
        </p:nvSpPr>
        <p:spPr>
          <a:xfrm>
            <a:off x="1508760" y="1828800"/>
            <a:ext cx="2697480" cy="731520"/>
          </a:xfrm>
          <a:prstGeom prst="rect">
            <a:avLst/>
          </a:prstGeom>
          <a:noFill/>
          <a:ln/>
        </p:spPr>
        <p:txBody>
          <a:bodyPr wrap="square" lIns="0" tIns="0" rIns="0" bIns="0" rtlCol="0" anchor="t"/>
          <a:lstStyle/>
          <a:p>
            <a:pPr indent="0" marL="0">
              <a:buNone/>
            </a:pPr>
            <a:r>
              <a:rPr lang="en-US" sz="1400" dirty="0">
                <a:solidFill>
                  <a:srgbClr val="3B4A47"/>
                </a:solidFill>
              </a:rPr>
              <a:t>Files get emailed and saved locally. Nobody knows which version is current.</a:t>
            </a:r>
            <a:endParaRPr lang="en-US" sz="1400" dirty="0"/>
          </a:p>
        </p:txBody>
      </p:sp>
      <p:sp>
        <p:nvSpPr>
          <p:cNvPr id="8" name="problem card 2"/>
          <p:cNvSpPr/>
          <p:nvPr/>
        </p:nvSpPr>
        <p:spPr>
          <a:xfrm>
            <a:off x="4709160" y="1188720"/>
            <a:ext cx="3977640" cy="1508760"/>
          </a:xfrm>
          <a:prstGeom prst="roundRect">
            <a:avLst>
              <a:gd name="adj" fmla="val 4848"/>
            </a:avLst>
          </a:prstGeom>
          <a:solidFill>
            <a:schemeClr val="bg2"/>
          </a:solidFill>
          <a:ln/>
        </p:spPr>
      </p:sp>
      <p:sp>
        <p:nvSpPr>
          <p:cNvPr id="9" name="problem 2 circle"/>
          <p:cNvSpPr/>
          <p:nvPr/>
        </p:nvSpPr>
        <p:spPr>
          <a:xfrm>
            <a:off x="4983480" y="1481328"/>
            <a:ext cx="548640" cy="548640"/>
          </a:xfrm>
          <a:prstGeom prst="ellipse">
            <a:avLst/>
          </a:prstGeom>
          <a:solidFill>
            <a:schemeClr val="accent4"/>
          </a:solidFill>
          <a:ln/>
        </p:spPr>
      </p:sp>
      <p:pic>
        <p:nvPicPr>
          <p:cNvPr id="10" name="problem 2 glyph" descr="preencoded.png">    </p:cNvPr>
          <p:cNvPicPr>
            <a:picLocks noChangeAspect="1"/>
          </p:cNvPicPr>
          <p:nvPr/>
        </p:nvPicPr>
        <p:blipFill>
          <a:blip r:embed="rId2"/>
          <a:stretch>
            <a:fillRect/>
          </a:stretch>
        </p:blipFill>
        <p:spPr>
          <a:xfrm>
            <a:off x="5120640" y="1618488"/>
            <a:ext cx="274320" cy="274320"/>
          </a:xfrm>
          <a:prstGeom prst="rect">
            <a:avLst/>
          </a:prstGeom>
        </p:spPr>
      </p:pic>
      <p:sp>
        <p:nvSpPr>
          <p:cNvPr id="11" name="Text 7"/>
          <p:cNvSpPr txBox="1"/>
          <p:nvPr/>
        </p:nvSpPr>
        <p:spPr>
          <a:xfrm>
            <a:off x="5760720" y="1463040"/>
            <a:ext cx="2697480" cy="320040"/>
          </a:xfrm>
          <a:prstGeom prst="rect">
            <a:avLst/>
          </a:prstGeom>
          <a:noFill/>
          <a:ln/>
        </p:spPr>
        <p:txBody>
          <a:bodyPr wrap="square" lIns="0" tIns="0" rIns="0" bIns="0" rtlCol="0" anchor="t"/>
          <a:lstStyle/>
          <a:p>
            <a:pPr indent="0" marL="0">
              <a:buNone/>
            </a:pPr>
            <a:r>
              <a:rPr lang="en-US" sz="1700" b="1" dirty="0">
                <a:solidFill>
                  <a:schemeClr val="tx1"/>
                </a:solidFill>
              </a:rPr>
              <a:t>Everyone sees everything</a:t>
            </a:r>
            <a:endParaRPr lang="en-US" sz="1700" dirty="0"/>
          </a:p>
        </p:txBody>
      </p:sp>
      <p:sp>
        <p:nvSpPr>
          <p:cNvPr id="12" name="Text 8"/>
          <p:cNvSpPr txBox="1"/>
          <p:nvPr/>
        </p:nvSpPr>
        <p:spPr>
          <a:xfrm>
            <a:off x="5760720" y="1828800"/>
            <a:ext cx="2697480" cy="731520"/>
          </a:xfrm>
          <a:prstGeom prst="rect">
            <a:avLst/>
          </a:prstGeom>
          <a:noFill/>
          <a:ln/>
        </p:spPr>
        <p:txBody>
          <a:bodyPr wrap="square" lIns="0" tIns="0" rIns="0" bIns="0" rtlCol="0" anchor="t"/>
          <a:lstStyle/>
          <a:p>
            <a:pPr indent="0" marL="0">
              <a:buNone/>
            </a:pPr>
            <a:r>
              <a:rPr lang="en-US" sz="1400" dirty="0">
                <a:solidFill>
                  <a:srgbClr val="3B4A47"/>
                </a:solidFill>
              </a:rPr>
              <a:t>Open the file and every ID number and phone number is right there.</a:t>
            </a:r>
            <a:endParaRPr lang="en-US" sz="1400" dirty="0"/>
          </a:p>
        </p:txBody>
      </p:sp>
      <p:sp>
        <p:nvSpPr>
          <p:cNvPr id="13" name="problem card 3"/>
          <p:cNvSpPr/>
          <p:nvPr/>
        </p:nvSpPr>
        <p:spPr>
          <a:xfrm>
            <a:off x="457200" y="2926080"/>
            <a:ext cx="3977640" cy="1508760"/>
          </a:xfrm>
          <a:prstGeom prst="roundRect">
            <a:avLst>
              <a:gd name="adj" fmla="val 4848"/>
            </a:avLst>
          </a:prstGeom>
          <a:solidFill>
            <a:schemeClr val="bg2"/>
          </a:solidFill>
          <a:ln/>
        </p:spPr>
      </p:sp>
      <p:sp>
        <p:nvSpPr>
          <p:cNvPr id="14" name="problem 3 circle"/>
          <p:cNvSpPr/>
          <p:nvPr/>
        </p:nvSpPr>
        <p:spPr>
          <a:xfrm>
            <a:off x="731520" y="3218688"/>
            <a:ext cx="548640" cy="548640"/>
          </a:xfrm>
          <a:prstGeom prst="ellipse">
            <a:avLst/>
          </a:prstGeom>
          <a:solidFill>
            <a:schemeClr val="accent4"/>
          </a:solidFill>
          <a:ln/>
        </p:spPr>
      </p:sp>
      <p:pic>
        <p:nvPicPr>
          <p:cNvPr id="15" name="problem 3 glyph" descr="preencoded.png">    </p:cNvPr>
          <p:cNvPicPr>
            <a:picLocks noChangeAspect="1"/>
          </p:cNvPicPr>
          <p:nvPr/>
        </p:nvPicPr>
        <p:blipFill>
          <a:blip r:embed="rId3"/>
          <a:stretch>
            <a:fillRect/>
          </a:stretch>
        </p:blipFill>
        <p:spPr>
          <a:xfrm>
            <a:off x="868680" y="3355848"/>
            <a:ext cx="274320" cy="274320"/>
          </a:xfrm>
          <a:prstGeom prst="rect">
            <a:avLst/>
          </a:prstGeom>
        </p:spPr>
      </p:pic>
      <p:sp>
        <p:nvSpPr>
          <p:cNvPr id="16" name="Text 11"/>
          <p:cNvSpPr txBox="1"/>
          <p:nvPr/>
        </p:nvSpPr>
        <p:spPr>
          <a:xfrm>
            <a:off x="1508760" y="3200400"/>
            <a:ext cx="2697480" cy="320040"/>
          </a:xfrm>
          <a:prstGeom prst="rect">
            <a:avLst/>
          </a:prstGeom>
          <a:noFill/>
          <a:ln/>
        </p:spPr>
        <p:txBody>
          <a:bodyPr wrap="square" lIns="0" tIns="0" rIns="0" bIns="0" rtlCol="0" anchor="t"/>
          <a:lstStyle/>
          <a:p>
            <a:pPr indent="0" marL="0">
              <a:buNone/>
            </a:pPr>
            <a:r>
              <a:rPr lang="en-US" sz="1700" b="1" dirty="0">
                <a:solidFill>
                  <a:schemeClr val="tx1"/>
                </a:solidFill>
              </a:rPr>
              <a:t>Follow-ups rely on memory</a:t>
            </a:r>
            <a:endParaRPr lang="en-US" sz="1700" dirty="0"/>
          </a:p>
        </p:txBody>
      </p:sp>
      <p:sp>
        <p:nvSpPr>
          <p:cNvPr id="17" name="Text 12"/>
          <p:cNvSpPr txBox="1"/>
          <p:nvPr/>
        </p:nvSpPr>
        <p:spPr>
          <a:xfrm>
            <a:off x="1508760" y="3566160"/>
            <a:ext cx="2697480" cy="731520"/>
          </a:xfrm>
          <a:prstGeom prst="rect">
            <a:avLst/>
          </a:prstGeom>
          <a:noFill/>
          <a:ln/>
        </p:spPr>
        <p:txBody>
          <a:bodyPr wrap="square" lIns="0" tIns="0" rIns="0" bIns="0" rtlCol="0" anchor="t"/>
          <a:lstStyle/>
          <a:p>
            <a:pPr indent="0" marL="0">
              <a:buNone/>
            </a:pPr>
            <a:r>
              <a:rPr lang="en-US" sz="1400" dirty="0">
                <a:solidFill>
                  <a:srgbClr val="3B4A47"/>
                </a:solidFill>
              </a:rPr>
              <a:t>No owners or deadlines, so overdue cases go unnoticed.</a:t>
            </a:r>
            <a:endParaRPr lang="en-US" sz="1400" dirty="0"/>
          </a:p>
        </p:txBody>
      </p:sp>
      <p:sp>
        <p:nvSpPr>
          <p:cNvPr id="18" name="problem card 4"/>
          <p:cNvSpPr/>
          <p:nvPr/>
        </p:nvSpPr>
        <p:spPr>
          <a:xfrm>
            <a:off x="4709160" y="2926080"/>
            <a:ext cx="3977640" cy="1508760"/>
          </a:xfrm>
          <a:prstGeom prst="roundRect">
            <a:avLst>
              <a:gd name="adj" fmla="val 4848"/>
            </a:avLst>
          </a:prstGeom>
          <a:solidFill>
            <a:schemeClr val="bg2"/>
          </a:solidFill>
          <a:ln/>
        </p:spPr>
      </p:sp>
      <p:sp>
        <p:nvSpPr>
          <p:cNvPr id="19" name="problem 4 circle"/>
          <p:cNvSpPr/>
          <p:nvPr/>
        </p:nvSpPr>
        <p:spPr>
          <a:xfrm>
            <a:off x="4983480" y="3218688"/>
            <a:ext cx="548640" cy="548640"/>
          </a:xfrm>
          <a:prstGeom prst="ellipse">
            <a:avLst/>
          </a:prstGeom>
          <a:solidFill>
            <a:schemeClr val="accent4"/>
          </a:solidFill>
          <a:ln/>
        </p:spPr>
      </p:sp>
      <p:pic>
        <p:nvPicPr>
          <p:cNvPr id="20" name="problem 4 glyph" descr="preencoded.png">    </p:cNvPr>
          <p:cNvPicPr>
            <a:picLocks noChangeAspect="1"/>
          </p:cNvPicPr>
          <p:nvPr/>
        </p:nvPicPr>
        <p:blipFill>
          <a:blip r:embed="rId4"/>
          <a:stretch>
            <a:fillRect/>
          </a:stretch>
        </p:blipFill>
        <p:spPr>
          <a:xfrm>
            <a:off x="5120640" y="3355848"/>
            <a:ext cx="274320" cy="274320"/>
          </a:xfrm>
          <a:prstGeom prst="rect">
            <a:avLst/>
          </a:prstGeom>
        </p:spPr>
      </p:pic>
      <p:sp>
        <p:nvSpPr>
          <p:cNvPr id="21" name="Text 15"/>
          <p:cNvSpPr txBox="1"/>
          <p:nvPr/>
        </p:nvSpPr>
        <p:spPr>
          <a:xfrm>
            <a:off x="5760720" y="3200400"/>
            <a:ext cx="2697480" cy="320040"/>
          </a:xfrm>
          <a:prstGeom prst="rect">
            <a:avLst/>
          </a:prstGeom>
          <a:noFill/>
          <a:ln/>
        </p:spPr>
        <p:txBody>
          <a:bodyPr wrap="square" lIns="0" tIns="0" rIns="0" bIns="0" rtlCol="0" anchor="t"/>
          <a:lstStyle/>
          <a:p>
            <a:pPr indent="0" marL="0">
              <a:buNone/>
            </a:pPr>
            <a:r>
              <a:rPr lang="en-US" sz="1700" b="1" dirty="0">
                <a:solidFill>
                  <a:schemeClr val="tx1"/>
                </a:solidFill>
              </a:rPr>
              <a:t>No record of who did what</a:t>
            </a:r>
            <a:endParaRPr lang="en-US" sz="1700" dirty="0"/>
          </a:p>
        </p:txBody>
      </p:sp>
      <p:sp>
        <p:nvSpPr>
          <p:cNvPr id="22" name="Text 16"/>
          <p:cNvSpPr txBox="1"/>
          <p:nvPr/>
        </p:nvSpPr>
        <p:spPr>
          <a:xfrm>
            <a:off x="5760720" y="3566160"/>
            <a:ext cx="2697480" cy="731520"/>
          </a:xfrm>
          <a:prstGeom prst="rect">
            <a:avLst/>
          </a:prstGeom>
          <a:noFill/>
          <a:ln/>
        </p:spPr>
        <p:txBody>
          <a:bodyPr wrap="square" lIns="0" tIns="0" rIns="0" bIns="0" rtlCol="0" anchor="t"/>
          <a:lstStyle/>
          <a:p>
            <a:pPr indent="0" marL="0">
              <a:buNone/>
            </a:pPr>
            <a:r>
              <a:rPr lang="en-US" sz="1400" dirty="0">
                <a:solidFill>
                  <a:srgbClr val="3B4A47"/>
                </a:solidFill>
              </a:rPr>
              <a:t>Anyone can change a cell, and nothing shows it happened.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One platform, three roles</a:t>
            </a:r>
            <a:endParaRPr lang="en-US" sz="3200" dirty="0"/>
          </a:p>
        </p:txBody>
      </p:sp>
      <p:sp>
        <p:nvSpPr>
          <p:cNvPr id="3" name="Case officer card"/>
          <p:cNvSpPr/>
          <p:nvPr/>
        </p:nvSpPr>
        <p:spPr>
          <a:xfrm>
            <a:off x="457200" y="1143000"/>
            <a:ext cx="2560320" cy="3429000"/>
          </a:xfrm>
          <a:prstGeom prst="roundRect">
            <a:avLst>
              <a:gd name="adj" fmla="val 2857"/>
            </a:avLst>
          </a:prstGeom>
          <a:solidFill>
            <a:schemeClr val="bg2"/>
          </a:solidFill>
          <a:ln/>
        </p:spPr>
      </p:sp>
      <p:sp>
        <p:nvSpPr>
          <p:cNvPr id="4" name="Case officer circle"/>
          <p:cNvSpPr/>
          <p:nvPr/>
        </p:nvSpPr>
        <p:spPr>
          <a:xfrm>
            <a:off x="731520" y="1371600"/>
            <a:ext cx="548640" cy="548640"/>
          </a:xfrm>
          <a:prstGeom prst="ellipse">
            <a:avLst/>
          </a:prstGeom>
          <a:solidFill>
            <a:schemeClr val="accent1"/>
          </a:solidFill>
          <a:ln/>
        </p:spPr>
      </p:sp>
      <p:pic>
        <p:nvPicPr>
          <p:cNvPr id="5" name="Case officer glyph" descr="preencoded.png">    </p:cNvPr>
          <p:cNvPicPr>
            <a:picLocks noChangeAspect="1"/>
          </p:cNvPicPr>
          <p:nvPr/>
        </p:nvPicPr>
        <p:blipFill>
          <a:blip r:embed="rId1"/>
          <a:stretch>
            <a:fillRect/>
          </a:stretch>
        </p:blipFill>
        <p:spPr>
          <a:xfrm>
            <a:off x="868680" y="1508760"/>
            <a:ext cx="274320" cy="274320"/>
          </a:xfrm>
          <a:prstGeom prst="rect">
            <a:avLst/>
          </a:prstGeom>
        </p:spPr>
      </p:pic>
      <p:sp>
        <p:nvSpPr>
          <p:cNvPr id="6" name="Text 3"/>
          <p:cNvSpPr txBox="1"/>
          <p:nvPr/>
        </p:nvSpPr>
        <p:spPr>
          <a:xfrm>
            <a:off x="731520" y="2057400"/>
            <a:ext cx="2103120" cy="365760"/>
          </a:xfrm>
          <a:prstGeom prst="rect">
            <a:avLst/>
          </a:prstGeom>
          <a:noFill/>
          <a:ln/>
        </p:spPr>
        <p:txBody>
          <a:bodyPr wrap="square" lIns="0" tIns="0" rIns="0" bIns="0" rtlCol="0" anchor="t"/>
          <a:lstStyle/>
          <a:p>
            <a:pPr indent="0" marL="0">
              <a:buNone/>
            </a:pPr>
            <a:r>
              <a:rPr lang="en-US" sz="1900" b="1" dirty="0">
                <a:solidFill>
                  <a:schemeClr val="tx1"/>
                </a:solidFill>
              </a:rPr>
              <a:t>Case officer</a:t>
            </a:r>
            <a:endParaRPr lang="en-US" sz="1900" dirty="0"/>
          </a:p>
        </p:txBody>
      </p:sp>
      <p:sp>
        <p:nvSpPr>
          <p:cNvPr id="7" name="Text 4"/>
          <p:cNvSpPr txBox="1"/>
          <p:nvPr/>
        </p:nvSpPr>
        <p:spPr>
          <a:xfrm>
            <a:off x="731520" y="2487168"/>
            <a:ext cx="21488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Finds students and opens cases</a:t>
            </a:r>
            <a:endParaRPr lang="en-US" sz="1400" dirty="0"/>
          </a:p>
          <a:p>
            <a:pPr marL="342900" indent="-342900">
              <a:spcAft>
                <a:spcPts val="600"/>
              </a:spcAft>
              <a:buSzPct val="100000"/>
              <a:buChar char="•"/>
            </a:pPr>
            <a:r>
              <a:rPr lang="en-US" sz="1400" dirty="0">
                <a:solidFill>
                  <a:schemeClr val="tx1"/>
                </a:solidFill>
              </a:rPr>
              <a:t>Reveals an ID only with a reason</a:t>
            </a:r>
            <a:endParaRPr lang="en-US" sz="1400" dirty="0"/>
          </a:p>
          <a:p>
            <a:pPr marL="342900" indent="-342900">
              <a:spcAft>
                <a:spcPts val="600"/>
              </a:spcAft>
              <a:buSzPct val="100000"/>
              <a:buChar char="•"/>
            </a:pPr>
            <a:r>
              <a:rPr lang="en-US" sz="1400" dirty="0">
                <a:solidFill>
                  <a:schemeClr val="tx1"/>
                </a:solidFill>
              </a:rPr>
              <a:t>Works their own case queue</a:t>
            </a:r>
            <a:endParaRPr lang="en-US" sz="1400" dirty="0"/>
          </a:p>
        </p:txBody>
      </p:sp>
      <p:sp>
        <p:nvSpPr>
          <p:cNvPr id="8" name="Text 5"/>
          <p:cNvSpPr txBox="1"/>
          <p:nvPr/>
        </p:nvSpPr>
        <p:spPr>
          <a:xfrm>
            <a:off x="731520" y="3977640"/>
            <a:ext cx="2103120" cy="457200"/>
          </a:xfrm>
          <a:prstGeom prst="rect">
            <a:avLst/>
          </a:prstGeom>
          <a:noFill/>
          <a:ln/>
        </p:spPr>
        <p:txBody>
          <a:bodyPr wrap="square" lIns="0" tIns="0" rIns="0" bIns="0" rtlCol="0" anchor="t"/>
          <a:lstStyle/>
          <a:p>
            <a:pPr indent="0" marL="0">
              <a:buNone/>
            </a:pPr>
            <a:r>
              <a:rPr lang="en-US" sz="1200" i="1" dirty="0">
                <a:solidFill>
                  <a:srgbClr val="586966"/>
                </a:solidFill>
              </a:rPr>
              <a:t>Can't reassign cases or export reports</a:t>
            </a:r>
            <a:endParaRPr lang="en-US" sz="1200" dirty="0"/>
          </a:p>
        </p:txBody>
      </p:sp>
      <p:sp>
        <p:nvSpPr>
          <p:cNvPr id="9" name="Manager card"/>
          <p:cNvSpPr/>
          <p:nvPr/>
        </p:nvSpPr>
        <p:spPr>
          <a:xfrm>
            <a:off x="3291840" y="1143000"/>
            <a:ext cx="2560320" cy="3429000"/>
          </a:xfrm>
          <a:prstGeom prst="roundRect">
            <a:avLst>
              <a:gd name="adj" fmla="val 2857"/>
            </a:avLst>
          </a:prstGeom>
          <a:solidFill>
            <a:schemeClr val="bg2"/>
          </a:solidFill>
          <a:ln/>
        </p:spPr>
      </p:sp>
      <p:sp>
        <p:nvSpPr>
          <p:cNvPr id="10" name="Manager circle"/>
          <p:cNvSpPr/>
          <p:nvPr/>
        </p:nvSpPr>
        <p:spPr>
          <a:xfrm>
            <a:off x="3566160" y="1371600"/>
            <a:ext cx="548640" cy="548640"/>
          </a:xfrm>
          <a:prstGeom prst="ellipse">
            <a:avLst/>
          </a:prstGeom>
          <a:solidFill>
            <a:schemeClr val="accent1"/>
          </a:solidFill>
          <a:ln/>
        </p:spPr>
      </p:sp>
      <p:pic>
        <p:nvPicPr>
          <p:cNvPr id="11" name="Manager glyph" descr="preencoded.png">    </p:cNvPr>
          <p:cNvPicPr>
            <a:picLocks noChangeAspect="1"/>
          </p:cNvPicPr>
          <p:nvPr/>
        </p:nvPicPr>
        <p:blipFill>
          <a:blip r:embed="rId2"/>
          <a:stretch>
            <a:fillRect/>
          </a:stretch>
        </p:blipFill>
        <p:spPr>
          <a:xfrm>
            <a:off x="3703320" y="1508760"/>
            <a:ext cx="274320" cy="274320"/>
          </a:xfrm>
          <a:prstGeom prst="rect">
            <a:avLst/>
          </a:prstGeom>
        </p:spPr>
      </p:pic>
      <p:sp>
        <p:nvSpPr>
          <p:cNvPr id="12" name="Text 8"/>
          <p:cNvSpPr txBox="1"/>
          <p:nvPr/>
        </p:nvSpPr>
        <p:spPr>
          <a:xfrm>
            <a:off x="3566160" y="2057400"/>
            <a:ext cx="2103120" cy="365760"/>
          </a:xfrm>
          <a:prstGeom prst="rect">
            <a:avLst/>
          </a:prstGeom>
          <a:noFill/>
          <a:ln/>
        </p:spPr>
        <p:txBody>
          <a:bodyPr wrap="square" lIns="0" tIns="0" rIns="0" bIns="0" rtlCol="0" anchor="t"/>
          <a:lstStyle/>
          <a:p>
            <a:pPr indent="0" marL="0">
              <a:buNone/>
            </a:pPr>
            <a:r>
              <a:rPr lang="en-US" sz="1900" b="1" dirty="0">
                <a:solidFill>
                  <a:schemeClr val="tx1"/>
                </a:solidFill>
              </a:rPr>
              <a:t>Manager</a:t>
            </a:r>
            <a:endParaRPr lang="en-US" sz="1900" dirty="0"/>
          </a:p>
        </p:txBody>
      </p:sp>
      <p:sp>
        <p:nvSpPr>
          <p:cNvPr id="13" name="Text 9"/>
          <p:cNvSpPr txBox="1"/>
          <p:nvPr/>
        </p:nvSpPr>
        <p:spPr>
          <a:xfrm>
            <a:off x="3566160" y="2487168"/>
            <a:ext cx="21488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Sees the whole backlog</a:t>
            </a:r>
            <a:endParaRPr lang="en-US" sz="1400" dirty="0"/>
          </a:p>
          <a:p>
            <a:pPr marL="342900" indent="-342900">
              <a:spcAft>
                <a:spcPts val="600"/>
              </a:spcAft>
              <a:buSzPct val="100000"/>
              <a:buChar char="•"/>
            </a:pPr>
            <a:r>
              <a:rPr lang="en-US" sz="1400" dirty="0">
                <a:solidFill>
                  <a:schemeClr val="tx1"/>
                </a:solidFill>
              </a:rPr>
              <a:t>Reassigns overdue cases</a:t>
            </a:r>
            <a:endParaRPr lang="en-US" sz="1400" dirty="0"/>
          </a:p>
          <a:p>
            <a:pPr marL="342900" indent="-342900">
              <a:spcAft>
                <a:spcPts val="600"/>
              </a:spcAft>
              <a:buSzPct val="100000"/>
              <a:buChar char="•"/>
            </a:pPr>
            <a:r>
              <a:rPr lang="en-US" sz="1400" dirty="0">
                <a:solidFill>
                  <a:schemeClr val="tx1"/>
                </a:solidFill>
              </a:rPr>
              <a:t>Exports summary reports</a:t>
            </a:r>
            <a:endParaRPr lang="en-US" sz="1400" dirty="0"/>
          </a:p>
        </p:txBody>
      </p:sp>
      <p:sp>
        <p:nvSpPr>
          <p:cNvPr id="14" name="Text 10"/>
          <p:cNvSpPr txBox="1"/>
          <p:nvPr/>
        </p:nvSpPr>
        <p:spPr>
          <a:xfrm>
            <a:off x="3566160" y="3977640"/>
            <a:ext cx="2103120" cy="457200"/>
          </a:xfrm>
          <a:prstGeom prst="rect">
            <a:avLst/>
          </a:prstGeom>
          <a:noFill/>
          <a:ln/>
        </p:spPr>
        <p:txBody>
          <a:bodyPr wrap="square" lIns="0" tIns="0" rIns="0" bIns="0" rtlCol="0" anchor="t"/>
          <a:lstStyle/>
          <a:p>
            <a:pPr indent="0" marL="0">
              <a:buNone/>
            </a:pPr>
            <a:r>
              <a:rPr lang="en-US" sz="1200" i="1" dirty="0">
                <a:solidFill>
                  <a:srgbClr val="586966"/>
                </a:solidFill>
              </a:rPr>
              <a:t>Can't reveal ID numbers</a:t>
            </a:r>
            <a:endParaRPr lang="en-US" sz="1200" dirty="0"/>
          </a:p>
        </p:txBody>
      </p:sp>
      <p:sp>
        <p:nvSpPr>
          <p:cNvPr id="15" name="Administrator card"/>
          <p:cNvSpPr/>
          <p:nvPr/>
        </p:nvSpPr>
        <p:spPr>
          <a:xfrm>
            <a:off x="6126480" y="1143000"/>
            <a:ext cx="2560320" cy="3429000"/>
          </a:xfrm>
          <a:prstGeom prst="roundRect">
            <a:avLst>
              <a:gd name="adj" fmla="val 2857"/>
            </a:avLst>
          </a:prstGeom>
          <a:solidFill>
            <a:schemeClr val="bg2"/>
          </a:solidFill>
          <a:ln/>
        </p:spPr>
      </p:sp>
      <p:sp>
        <p:nvSpPr>
          <p:cNvPr id="16" name="Administrator circle"/>
          <p:cNvSpPr/>
          <p:nvPr/>
        </p:nvSpPr>
        <p:spPr>
          <a:xfrm>
            <a:off x="6400800" y="1371600"/>
            <a:ext cx="548640" cy="548640"/>
          </a:xfrm>
          <a:prstGeom prst="ellipse">
            <a:avLst/>
          </a:prstGeom>
          <a:solidFill>
            <a:schemeClr val="accent1"/>
          </a:solidFill>
          <a:ln/>
        </p:spPr>
      </p:sp>
      <p:pic>
        <p:nvPicPr>
          <p:cNvPr id="17" name="Administrator glyph" descr="preencoded.png">    </p:cNvPr>
          <p:cNvPicPr>
            <a:picLocks noChangeAspect="1"/>
          </p:cNvPicPr>
          <p:nvPr/>
        </p:nvPicPr>
        <p:blipFill>
          <a:blip r:embed="rId3"/>
          <a:stretch>
            <a:fillRect/>
          </a:stretch>
        </p:blipFill>
        <p:spPr>
          <a:xfrm>
            <a:off x="6537960" y="1508760"/>
            <a:ext cx="274320" cy="274320"/>
          </a:xfrm>
          <a:prstGeom prst="rect">
            <a:avLst/>
          </a:prstGeom>
        </p:spPr>
      </p:pic>
      <p:sp>
        <p:nvSpPr>
          <p:cNvPr id="18" name="Text 13"/>
          <p:cNvSpPr txBox="1"/>
          <p:nvPr/>
        </p:nvSpPr>
        <p:spPr>
          <a:xfrm>
            <a:off x="6400800" y="2057400"/>
            <a:ext cx="2103120" cy="365760"/>
          </a:xfrm>
          <a:prstGeom prst="rect">
            <a:avLst/>
          </a:prstGeom>
          <a:noFill/>
          <a:ln/>
        </p:spPr>
        <p:txBody>
          <a:bodyPr wrap="square" lIns="0" tIns="0" rIns="0" bIns="0" rtlCol="0" anchor="t"/>
          <a:lstStyle/>
          <a:p>
            <a:pPr indent="0" marL="0">
              <a:buNone/>
            </a:pPr>
            <a:r>
              <a:rPr lang="en-US" sz="1900" b="1" dirty="0">
                <a:solidFill>
                  <a:schemeClr val="tx1"/>
                </a:solidFill>
              </a:rPr>
              <a:t>Administrator</a:t>
            </a:r>
            <a:endParaRPr lang="en-US" sz="1900" dirty="0"/>
          </a:p>
        </p:txBody>
      </p:sp>
      <p:sp>
        <p:nvSpPr>
          <p:cNvPr id="19" name="Text 14"/>
          <p:cNvSpPr txBox="1"/>
          <p:nvPr/>
        </p:nvSpPr>
        <p:spPr>
          <a:xfrm>
            <a:off x="6400800" y="2487168"/>
            <a:ext cx="21488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Imports institution files</a:t>
            </a:r>
            <a:endParaRPr lang="en-US" sz="1400" dirty="0"/>
          </a:p>
          <a:p>
            <a:pPr marL="342900" indent="-342900">
              <a:spcAft>
                <a:spcPts val="600"/>
              </a:spcAft>
              <a:buSzPct val="100000"/>
              <a:buChar char="•"/>
            </a:pPr>
            <a:r>
              <a:rPr lang="en-US" sz="1400" dirty="0">
                <a:solidFill>
                  <a:schemeClr val="tx1"/>
                </a:solidFill>
              </a:rPr>
              <a:t>Reads the audit log</a:t>
            </a:r>
            <a:endParaRPr lang="en-US" sz="1400" dirty="0"/>
          </a:p>
          <a:p>
            <a:pPr marL="342900" indent="-342900">
              <a:spcAft>
                <a:spcPts val="600"/>
              </a:spcAft>
              <a:buSzPct val="100000"/>
              <a:buChar char="•"/>
            </a:pPr>
            <a:r>
              <a:rPr lang="en-US" sz="1400" dirty="0">
                <a:solidFill>
                  <a:schemeClr val="tx1"/>
                </a:solidFill>
              </a:rPr>
              <a:t>Checks the log is untampered</a:t>
            </a:r>
            <a:endParaRPr lang="en-US" sz="1400" dirty="0"/>
          </a:p>
        </p:txBody>
      </p:sp>
      <p:sp>
        <p:nvSpPr>
          <p:cNvPr id="20" name="Text 15"/>
          <p:cNvSpPr txBox="1"/>
          <p:nvPr/>
        </p:nvSpPr>
        <p:spPr>
          <a:xfrm>
            <a:off x="6400800" y="3977640"/>
            <a:ext cx="2103120" cy="457200"/>
          </a:xfrm>
          <a:prstGeom prst="rect">
            <a:avLst/>
          </a:prstGeom>
          <a:noFill/>
          <a:ln/>
        </p:spPr>
        <p:txBody>
          <a:bodyPr wrap="square" lIns="0" tIns="0" rIns="0" bIns="0" rtlCol="0" anchor="t"/>
          <a:lstStyle/>
          <a:p>
            <a:pPr indent="0" marL="0">
              <a:buNone/>
            </a:pPr>
            <a:r>
              <a:rPr lang="en-US" sz="1200" i="1" dirty="0">
                <a:solidFill>
                  <a:srgbClr val="586966"/>
                </a:solidFill>
              </a:rPr>
              <a:t>Can't open student records or cases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See what needs attention today</a:t>
            </a:r>
            <a:endParaRPr lang="en-US" sz="3200" dirty="0"/>
          </a:p>
        </p:txBody>
      </p:sp>
      <p:sp>
        <p:nvSpPr>
          <p:cNvPr id="3" name="Operations overview screenshot frame"/>
          <p:cNvSpPr/>
          <p:nvPr/>
        </p:nvSpPr>
        <p:spPr>
          <a:xfrm>
            <a:off x="457200" y="1143000"/>
            <a:ext cx="5577840" cy="3021330"/>
          </a:xfrm>
          <a:prstGeom prst="rect">
            <a:avLst/>
          </a:prstGeom>
          <a:solidFill>
            <a:schemeClr val="bg1"/>
          </a:solidFill>
          <a:ln w="9525">
            <a:solidFill>
              <a:srgbClr val="D9E1DE"/>
            </a:solidFill>
            <a:prstDash val="solid"/>
          </a:ln>
          <a:effectLst>
            <a:outerShdw sx="100000" sy="100000" kx="0" ky="0" algn="bl" rotWithShape="0" blurRad="101600" dist="25400" dir="5400000">
              <a:srgbClr val="000000">
                <a:alpha val="18000"/>
              </a:srgbClr>
            </a:outerShdw>
          </a:effectLst>
        </p:spPr>
      </p:sp>
      <p:pic>
        <p:nvPicPr>
          <p:cNvPr id="4" name="Operations overview screenshot" descr="Operations overview screenshot">    </p:cNvPr>
          <p:cNvPicPr>
            <a:picLocks noChangeAspect="1"/>
          </p:cNvPicPr>
          <p:nvPr/>
        </p:nvPicPr>
        <p:blipFill>
          <a:blip r:embed="rId1"/>
          <a:stretch>
            <a:fillRect/>
          </a:stretch>
        </p:blipFill>
        <p:spPr>
          <a:xfrm>
            <a:off x="457200" y="1143000"/>
            <a:ext cx="5577840" cy="3021330"/>
          </a:xfrm>
          <a:prstGeom prst="rect">
            <a:avLst/>
          </a:prstGeom>
        </p:spPr>
      </p:pic>
      <p:sp>
        <p:nvSpPr>
          <p:cNvPr id="5" name="Live counts circle"/>
          <p:cNvSpPr/>
          <p:nvPr/>
        </p:nvSpPr>
        <p:spPr>
          <a:xfrm>
            <a:off x="6355080" y="1188720"/>
            <a:ext cx="411480" cy="411480"/>
          </a:xfrm>
          <a:prstGeom prst="ellipse">
            <a:avLst/>
          </a:prstGeom>
          <a:solidFill>
            <a:schemeClr val="accent1"/>
          </a:solidFill>
          <a:ln/>
        </p:spPr>
      </p:sp>
      <p:pic>
        <p:nvPicPr>
          <p:cNvPr id="6" name="Live counts glyph" descr="preencoded.png">    </p:cNvPr>
          <p:cNvPicPr>
            <a:picLocks noChangeAspect="1"/>
          </p:cNvPicPr>
          <p:nvPr/>
        </p:nvPicPr>
        <p:blipFill>
          <a:blip r:embed="rId2"/>
          <a:stretch>
            <a:fillRect/>
          </a:stretch>
        </p:blipFill>
        <p:spPr>
          <a:xfrm>
            <a:off x="6457950" y="1291590"/>
            <a:ext cx="205740" cy="205740"/>
          </a:xfrm>
          <a:prstGeom prst="rect">
            <a:avLst/>
          </a:prstGeom>
        </p:spPr>
      </p:pic>
      <p:sp>
        <p:nvSpPr>
          <p:cNvPr id="7" name="Text 3"/>
          <p:cNvSpPr txBox="1"/>
          <p:nvPr/>
        </p:nvSpPr>
        <p:spPr>
          <a:xfrm>
            <a:off x="6903720" y="1188720"/>
            <a:ext cx="1783080" cy="274320"/>
          </a:xfrm>
          <a:prstGeom prst="rect">
            <a:avLst/>
          </a:prstGeom>
          <a:noFill/>
          <a:ln/>
        </p:spPr>
        <p:txBody>
          <a:bodyPr wrap="square" lIns="0" tIns="0" rIns="0" bIns="0" rtlCol="0" anchor="t"/>
          <a:lstStyle/>
          <a:p>
            <a:pPr indent="0" marL="0">
              <a:buNone/>
            </a:pPr>
            <a:r>
              <a:rPr lang="en-US" sz="1500" b="1" dirty="0">
                <a:solidFill>
                  <a:schemeClr val="tx1"/>
                </a:solidFill>
              </a:rPr>
              <a:t>Live counts</a:t>
            </a:r>
            <a:endParaRPr lang="en-US" sz="1500" dirty="0"/>
          </a:p>
        </p:txBody>
      </p:sp>
      <p:sp>
        <p:nvSpPr>
          <p:cNvPr id="8" name="Text 4"/>
          <p:cNvSpPr txBox="1"/>
          <p:nvPr/>
        </p:nvSpPr>
        <p:spPr>
          <a:xfrm>
            <a:off x="6903720" y="1481328"/>
            <a:ext cx="1783080" cy="640080"/>
          </a:xfrm>
          <a:prstGeom prst="rect">
            <a:avLst/>
          </a:prstGeom>
          <a:noFill/>
          <a:ln/>
        </p:spPr>
        <p:txBody>
          <a:bodyPr wrap="square" lIns="0" tIns="0" rIns="0" bIns="0" rtlCol="0" anchor="t"/>
          <a:lstStyle/>
          <a:p>
            <a:pPr indent="0" marL="0">
              <a:buNone/>
            </a:pPr>
            <a:r>
              <a:rPr lang="en-US" sz="1200" dirty="0">
                <a:solidFill>
                  <a:srgbClr val="3B4A47"/>
                </a:solidFill>
              </a:rPr>
              <a:t>Open, overdue and incomplete records update as officers work.</a:t>
            </a:r>
            <a:endParaRPr lang="en-US" sz="1200" dirty="0"/>
          </a:p>
        </p:txBody>
      </p:sp>
      <p:sp>
        <p:nvSpPr>
          <p:cNvPr id="9" name="Priority queue circle"/>
          <p:cNvSpPr/>
          <p:nvPr/>
        </p:nvSpPr>
        <p:spPr>
          <a:xfrm>
            <a:off x="6355080" y="2212848"/>
            <a:ext cx="411480" cy="411480"/>
          </a:xfrm>
          <a:prstGeom prst="ellipse">
            <a:avLst/>
          </a:prstGeom>
          <a:solidFill>
            <a:schemeClr val="accent1"/>
          </a:solidFill>
          <a:ln/>
        </p:spPr>
      </p:sp>
      <p:pic>
        <p:nvPicPr>
          <p:cNvPr id="10" name="Priority queue glyph" descr="preencoded.png">    </p:cNvPr>
          <p:cNvPicPr>
            <a:picLocks noChangeAspect="1"/>
          </p:cNvPicPr>
          <p:nvPr/>
        </p:nvPicPr>
        <p:blipFill>
          <a:blip r:embed="rId3"/>
          <a:stretch>
            <a:fillRect/>
          </a:stretch>
        </p:blipFill>
        <p:spPr>
          <a:xfrm>
            <a:off x="6457950" y="2315718"/>
            <a:ext cx="205740" cy="205740"/>
          </a:xfrm>
          <a:prstGeom prst="rect">
            <a:avLst/>
          </a:prstGeom>
        </p:spPr>
      </p:pic>
      <p:sp>
        <p:nvSpPr>
          <p:cNvPr id="11" name="Text 6"/>
          <p:cNvSpPr txBox="1"/>
          <p:nvPr/>
        </p:nvSpPr>
        <p:spPr>
          <a:xfrm>
            <a:off x="6903720" y="2212848"/>
            <a:ext cx="1783080" cy="274320"/>
          </a:xfrm>
          <a:prstGeom prst="rect">
            <a:avLst/>
          </a:prstGeom>
          <a:noFill/>
          <a:ln/>
        </p:spPr>
        <p:txBody>
          <a:bodyPr wrap="square" lIns="0" tIns="0" rIns="0" bIns="0" rtlCol="0" anchor="t"/>
          <a:lstStyle/>
          <a:p>
            <a:pPr indent="0" marL="0">
              <a:buNone/>
            </a:pPr>
            <a:r>
              <a:rPr lang="en-US" sz="1500" b="1" dirty="0">
                <a:solidFill>
                  <a:schemeClr val="tx1"/>
                </a:solidFill>
              </a:rPr>
              <a:t>Priority queue</a:t>
            </a:r>
            <a:endParaRPr lang="en-US" sz="1500" dirty="0"/>
          </a:p>
        </p:txBody>
      </p:sp>
      <p:sp>
        <p:nvSpPr>
          <p:cNvPr id="12" name="Text 7"/>
          <p:cNvSpPr txBox="1"/>
          <p:nvPr/>
        </p:nvSpPr>
        <p:spPr>
          <a:xfrm>
            <a:off x="6903720" y="2505456"/>
            <a:ext cx="1783080" cy="640080"/>
          </a:xfrm>
          <a:prstGeom prst="rect">
            <a:avLst/>
          </a:prstGeom>
          <a:noFill/>
          <a:ln/>
        </p:spPr>
        <p:txBody>
          <a:bodyPr wrap="square" lIns="0" tIns="0" rIns="0" bIns="0" rtlCol="0" anchor="t"/>
          <a:lstStyle/>
          <a:p>
            <a:pPr indent="0" marL="0">
              <a:buNone/>
            </a:pPr>
            <a:r>
              <a:rPr lang="en-US" sz="1200" dirty="0">
                <a:solidFill>
                  <a:srgbClr val="3B4A47"/>
                </a:solidFill>
              </a:rPr>
              <a:t>Overdue cases, oldest first, with who owns each one.</a:t>
            </a:r>
            <a:endParaRPr lang="en-US" sz="1200" dirty="0"/>
          </a:p>
        </p:txBody>
      </p:sp>
      <p:sp>
        <p:nvSpPr>
          <p:cNvPr id="13" name="Officer workload circle"/>
          <p:cNvSpPr/>
          <p:nvPr/>
        </p:nvSpPr>
        <p:spPr>
          <a:xfrm>
            <a:off x="6355080" y="3236976"/>
            <a:ext cx="411480" cy="411480"/>
          </a:xfrm>
          <a:prstGeom prst="ellipse">
            <a:avLst/>
          </a:prstGeom>
          <a:solidFill>
            <a:schemeClr val="accent1"/>
          </a:solidFill>
          <a:ln/>
        </p:spPr>
      </p:sp>
      <p:pic>
        <p:nvPicPr>
          <p:cNvPr id="14" name="Officer workload glyph" descr="preencoded.png">    </p:cNvPr>
          <p:cNvPicPr>
            <a:picLocks noChangeAspect="1"/>
          </p:cNvPicPr>
          <p:nvPr/>
        </p:nvPicPr>
        <p:blipFill>
          <a:blip r:embed="rId4"/>
          <a:stretch>
            <a:fillRect/>
          </a:stretch>
        </p:blipFill>
        <p:spPr>
          <a:xfrm>
            <a:off x="6457950" y="3339846"/>
            <a:ext cx="205740" cy="205740"/>
          </a:xfrm>
          <a:prstGeom prst="rect">
            <a:avLst/>
          </a:prstGeom>
        </p:spPr>
      </p:pic>
      <p:sp>
        <p:nvSpPr>
          <p:cNvPr id="15" name="Text 9"/>
          <p:cNvSpPr txBox="1"/>
          <p:nvPr/>
        </p:nvSpPr>
        <p:spPr>
          <a:xfrm>
            <a:off x="6903720" y="3236976"/>
            <a:ext cx="1783080" cy="274320"/>
          </a:xfrm>
          <a:prstGeom prst="rect">
            <a:avLst/>
          </a:prstGeom>
          <a:noFill/>
          <a:ln/>
        </p:spPr>
        <p:txBody>
          <a:bodyPr wrap="square" lIns="0" tIns="0" rIns="0" bIns="0" rtlCol="0" anchor="t"/>
          <a:lstStyle/>
          <a:p>
            <a:pPr indent="0" marL="0">
              <a:buNone/>
            </a:pPr>
            <a:r>
              <a:rPr lang="en-US" sz="1500" b="1" dirty="0">
                <a:solidFill>
                  <a:schemeClr val="tx1"/>
                </a:solidFill>
              </a:rPr>
              <a:t>Officer workload</a:t>
            </a:r>
            <a:endParaRPr lang="en-US" sz="1500" dirty="0"/>
          </a:p>
        </p:txBody>
      </p:sp>
      <p:sp>
        <p:nvSpPr>
          <p:cNvPr id="16" name="Text 10"/>
          <p:cNvSpPr txBox="1"/>
          <p:nvPr/>
        </p:nvSpPr>
        <p:spPr>
          <a:xfrm>
            <a:off x="6903720" y="3529584"/>
            <a:ext cx="1783080" cy="640080"/>
          </a:xfrm>
          <a:prstGeom prst="rect">
            <a:avLst/>
          </a:prstGeom>
          <a:noFill/>
          <a:ln/>
        </p:spPr>
        <p:txBody>
          <a:bodyPr wrap="square" lIns="0" tIns="0" rIns="0" bIns="0" rtlCol="0" anchor="t"/>
          <a:lstStyle/>
          <a:p>
            <a:pPr indent="0" marL="0">
              <a:buNone/>
            </a:pPr>
            <a:r>
              <a:rPr lang="en-US" sz="1200" dirty="0">
                <a:solidFill>
                  <a:srgbClr val="3B4A47"/>
                </a:solidFill>
              </a:rPr>
              <a:t>Spot who's overloaded and reassign their cases.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ID numbers stay hidden by default</a:t>
            </a:r>
            <a:endParaRPr lang="en-US" sz="3200" dirty="0"/>
          </a:p>
        </p:txBody>
      </p:sp>
      <p:sp>
        <p:nvSpPr>
          <p:cNvPr id="3" name="Student record screenshot frame"/>
          <p:cNvSpPr/>
          <p:nvPr/>
        </p:nvSpPr>
        <p:spPr>
          <a:xfrm>
            <a:off x="457200" y="1143000"/>
            <a:ext cx="5394960" cy="2202942"/>
          </a:xfrm>
          <a:prstGeom prst="rect">
            <a:avLst/>
          </a:prstGeom>
          <a:solidFill>
            <a:schemeClr val="bg1"/>
          </a:solidFill>
          <a:ln w="9525">
            <a:solidFill>
              <a:srgbClr val="D9E1DE"/>
            </a:solidFill>
            <a:prstDash val="solid"/>
          </a:ln>
          <a:effectLst>
            <a:outerShdw sx="100000" sy="100000" kx="0" ky="0" algn="bl" rotWithShape="0" blurRad="101600" dist="25400" dir="5400000">
              <a:srgbClr val="000000">
                <a:alpha val="18000"/>
              </a:srgbClr>
            </a:outerShdw>
          </a:effectLst>
        </p:spPr>
      </p:sp>
      <p:pic>
        <p:nvPicPr>
          <p:cNvPr id="4" name="Student record screenshot" descr="Student record screenshot">    </p:cNvPr>
          <p:cNvPicPr>
            <a:picLocks noChangeAspect="1"/>
          </p:cNvPicPr>
          <p:nvPr/>
        </p:nvPicPr>
        <p:blipFill>
          <a:blip r:embed="rId1"/>
          <a:stretch>
            <a:fillRect/>
          </a:stretch>
        </p:blipFill>
        <p:spPr>
          <a:xfrm>
            <a:off x="457200" y="1143000"/>
            <a:ext cx="5394960" cy="2202942"/>
          </a:xfrm>
          <a:prstGeom prst="rect">
            <a:avLst/>
          </a:prstGeom>
        </p:spPr>
      </p:pic>
      <p:sp>
        <p:nvSpPr>
          <p:cNvPr id="5" name="masking callout"/>
          <p:cNvSpPr/>
          <p:nvPr/>
        </p:nvSpPr>
        <p:spPr>
          <a:xfrm>
            <a:off x="457200" y="3566160"/>
            <a:ext cx="5394960" cy="960120"/>
          </a:xfrm>
          <a:prstGeom prst="roundRect">
            <a:avLst>
              <a:gd name="adj" fmla="val 7619"/>
            </a:avLst>
          </a:prstGeom>
          <a:solidFill>
            <a:srgbClr val="DFF0EB"/>
          </a:solidFill>
          <a:ln/>
        </p:spPr>
      </p:sp>
      <p:sp>
        <p:nvSpPr>
          <p:cNvPr id="6" name="Text 3"/>
          <p:cNvSpPr txBox="1"/>
          <p:nvPr/>
        </p:nvSpPr>
        <p:spPr>
          <a:xfrm>
            <a:off x="685800" y="3675888"/>
            <a:ext cx="4983480" cy="777240"/>
          </a:xfrm>
          <a:prstGeom prst="rect">
            <a:avLst/>
          </a:prstGeom>
          <a:noFill/>
          <a:ln/>
        </p:spPr>
        <p:txBody>
          <a:bodyPr wrap="square" lIns="0" tIns="0" rIns="0" bIns="0" rtlCol="0" anchor="ctr"/>
          <a:lstStyle/>
          <a:p>
            <a:pPr indent="0" marL="0">
              <a:buNone/>
            </a:pPr>
            <a:r>
              <a:rPr lang="en-US" sz="1400" dirty="0">
                <a:solidFill>
                  <a:schemeClr val="tx1"/>
                </a:solidFill>
              </a:rPr>
              <a:t>The database never sends a full ID number, cellphone or email to the browser unless it is revealed. Partial ID searches are blocked to stop fishing.</a:t>
            </a:r>
            <a:endParaRPr lang="en-US" sz="1400" dirty="0"/>
          </a:p>
        </p:txBody>
      </p:sp>
      <p:sp>
        <p:nvSpPr>
          <p:cNvPr id="7" name="step 1 circle"/>
          <p:cNvSpPr/>
          <p:nvPr/>
        </p:nvSpPr>
        <p:spPr>
          <a:xfrm>
            <a:off x="6172200" y="1188720"/>
            <a:ext cx="411480" cy="411480"/>
          </a:xfrm>
          <a:prstGeom prst="ellipse">
            <a:avLst/>
          </a:prstGeom>
          <a:solidFill>
            <a:schemeClr val="accent1"/>
          </a:solidFill>
          <a:ln/>
        </p:spPr>
      </p:sp>
      <p:sp>
        <p:nvSpPr>
          <p:cNvPr id="8" name="Text 5"/>
          <p:cNvSpPr txBox="1"/>
          <p:nvPr/>
        </p:nvSpPr>
        <p:spPr>
          <a:xfrm>
            <a:off x="6172200" y="11887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6720840" y="1207008"/>
            <a:ext cx="1965960" cy="274320"/>
          </a:xfrm>
          <a:prstGeom prst="rect">
            <a:avLst/>
          </a:prstGeom>
          <a:noFill/>
          <a:ln/>
        </p:spPr>
        <p:txBody>
          <a:bodyPr wrap="square" lIns="0" tIns="0" rIns="0" bIns="0" rtlCol="0" anchor="t"/>
          <a:lstStyle/>
          <a:p>
            <a:pPr indent="0" marL="0">
              <a:buNone/>
            </a:pPr>
            <a:r>
              <a:rPr lang="en-US" sz="1500" b="1" dirty="0">
                <a:solidFill>
                  <a:schemeClr val="tx1"/>
                </a:solidFill>
              </a:rPr>
              <a:t>Pick a reason</a:t>
            </a:r>
            <a:endParaRPr lang="en-US" sz="1500" dirty="0"/>
          </a:p>
        </p:txBody>
      </p:sp>
      <p:sp>
        <p:nvSpPr>
          <p:cNvPr id="10" name="Text 7"/>
          <p:cNvSpPr txBox="1"/>
          <p:nvPr/>
        </p:nvSpPr>
        <p:spPr>
          <a:xfrm>
            <a:off x="6720840" y="1517904"/>
            <a:ext cx="1965960" cy="640080"/>
          </a:xfrm>
          <a:prstGeom prst="rect">
            <a:avLst/>
          </a:prstGeom>
          <a:noFill/>
          <a:ln/>
        </p:spPr>
        <p:txBody>
          <a:bodyPr wrap="square" lIns="0" tIns="0" rIns="0" bIns="0" rtlCol="0" anchor="t"/>
          <a:lstStyle/>
          <a:p>
            <a:pPr indent="0" marL="0">
              <a:buNone/>
            </a:pPr>
            <a:r>
              <a:rPr lang="en-US" sz="1200" dirty="0">
                <a:solidFill>
                  <a:srgbClr val="3B4A47"/>
                </a:solidFill>
              </a:rPr>
              <a:t>From a fixed list, like verifying identity on a call.</a:t>
            </a:r>
            <a:endParaRPr lang="en-US" sz="1200" dirty="0"/>
          </a:p>
        </p:txBody>
      </p:sp>
      <p:sp>
        <p:nvSpPr>
          <p:cNvPr id="11" name="step 2 circle"/>
          <p:cNvSpPr/>
          <p:nvPr/>
        </p:nvSpPr>
        <p:spPr>
          <a:xfrm>
            <a:off x="6172200" y="2304288"/>
            <a:ext cx="411480" cy="411480"/>
          </a:xfrm>
          <a:prstGeom prst="ellipse">
            <a:avLst/>
          </a:prstGeom>
          <a:solidFill>
            <a:schemeClr val="accent1"/>
          </a:solidFill>
          <a:ln/>
        </p:spPr>
      </p:sp>
      <p:sp>
        <p:nvSpPr>
          <p:cNvPr id="12" name="Text 9"/>
          <p:cNvSpPr txBox="1"/>
          <p:nvPr/>
        </p:nvSpPr>
        <p:spPr>
          <a:xfrm>
            <a:off x="6172200" y="230428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6720840" y="2322576"/>
            <a:ext cx="1965960" cy="274320"/>
          </a:xfrm>
          <a:prstGeom prst="rect">
            <a:avLst/>
          </a:prstGeom>
          <a:noFill/>
          <a:ln/>
        </p:spPr>
        <p:txBody>
          <a:bodyPr wrap="square" lIns="0" tIns="0" rIns="0" bIns="0" rtlCol="0" anchor="t"/>
          <a:lstStyle/>
          <a:p>
            <a:pPr indent="0" marL="0">
              <a:buNone/>
            </a:pPr>
            <a:r>
              <a:rPr lang="en-US" sz="1500" b="1" dirty="0">
                <a:solidFill>
                  <a:schemeClr val="tx1"/>
                </a:solidFill>
              </a:rPr>
              <a:t>See it for 60 seconds</a:t>
            </a:r>
            <a:endParaRPr lang="en-US" sz="1500" dirty="0"/>
          </a:p>
        </p:txBody>
      </p:sp>
      <p:sp>
        <p:nvSpPr>
          <p:cNvPr id="14" name="Text 11"/>
          <p:cNvSpPr txBox="1"/>
          <p:nvPr/>
        </p:nvSpPr>
        <p:spPr>
          <a:xfrm>
            <a:off x="6720840" y="2633472"/>
            <a:ext cx="1965960" cy="640080"/>
          </a:xfrm>
          <a:prstGeom prst="rect">
            <a:avLst/>
          </a:prstGeom>
          <a:noFill/>
          <a:ln/>
        </p:spPr>
        <p:txBody>
          <a:bodyPr wrap="square" lIns="0" tIns="0" rIns="0" bIns="0" rtlCol="0" anchor="t"/>
          <a:lstStyle/>
          <a:p>
            <a:pPr indent="0" marL="0">
              <a:buNone/>
            </a:pPr>
            <a:r>
              <a:rPr lang="en-US" sz="1200" dirty="0">
                <a:solidFill>
                  <a:srgbClr val="3B4A47"/>
                </a:solidFill>
              </a:rPr>
              <a:t>Then it hides itself again.</a:t>
            </a:r>
            <a:endParaRPr lang="en-US" sz="1200" dirty="0"/>
          </a:p>
        </p:txBody>
      </p:sp>
      <p:sp>
        <p:nvSpPr>
          <p:cNvPr id="15" name="step 3 circle"/>
          <p:cNvSpPr/>
          <p:nvPr/>
        </p:nvSpPr>
        <p:spPr>
          <a:xfrm>
            <a:off x="6172200" y="3419856"/>
            <a:ext cx="411480" cy="411480"/>
          </a:xfrm>
          <a:prstGeom prst="ellipse">
            <a:avLst/>
          </a:prstGeom>
          <a:solidFill>
            <a:schemeClr val="accent1"/>
          </a:solidFill>
          <a:ln/>
        </p:spPr>
      </p:sp>
      <p:sp>
        <p:nvSpPr>
          <p:cNvPr id="16" name="Text 13"/>
          <p:cNvSpPr txBox="1"/>
          <p:nvPr/>
        </p:nvSpPr>
        <p:spPr>
          <a:xfrm>
            <a:off x="6172200" y="341985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6720840" y="3438144"/>
            <a:ext cx="1965960" cy="274320"/>
          </a:xfrm>
          <a:prstGeom prst="rect">
            <a:avLst/>
          </a:prstGeom>
          <a:noFill/>
          <a:ln/>
        </p:spPr>
        <p:txBody>
          <a:bodyPr wrap="square" lIns="0" tIns="0" rIns="0" bIns="0" rtlCol="0" anchor="t"/>
          <a:lstStyle/>
          <a:p>
            <a:pPr indent="0" marL="0">
              <a:buNone/>
            </a:pPr>
            <a:r>
              <a:rPr lang="en-US" sz="1500" b="1" dirty="0">
                <a:solidFill>
                  <a:schemeClr val="tx1"/>
                </a:solidFill>
              </a:rPr>
              <a:t>It gets logged</a:t>
            </a:r>
            <a:endParaRPr lang="en-US" sz="1500" dirty="0"/>
          </a:p>
        </p:txBody>
      </p:sp>
      <p:sp>
        <p:nvSpPr>
          <p:cNvPr id="18" name="Text 15"/>
          <p:cNvSpPr txBox="1"/>
          <p:nvPr/>
        </p:nvSpPr>
        <p:spPr>
          <a:xfrm>
            <a:off x="6720840" y="3749040"/>
            <a:ext cx="1965960" cy="640080"/>
          </a:xfrm>
          <a:prstGeom prst="rect">
            <a:avLst/>
          </a:prstGeom>
          <a:noFill/>
          <a:ln/>
        </p:spPr>
        <p:txBody>
          <a:bodyPr wrap="square" lIns="0" tIns="0" rIns="0" bIns="0" rtlCol="0" anchor="t"/>
          <a:lstStyle/>
          <a:p>
            <a:pPr indent="0" marL="0">
              <a:buNone/>
            </a:pPr>
            <a:r>
              <a:rPr lang="en-US" sz="1200" dirty="0">
                <a:solidFill>
                  <a:srgbClr val="3B4A47"/>
                </a:solidFill>
              </a:rPr>
              <a:t>Name, time and reason go into the audit log.</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Bad data is stopped at the door</a:t>
            </a:r>
            <a:endParaRPr lang="en-US" sz="3200" dirty="0"/>
          </a:p>
        </p:txBody>
      </p:sp>
      <p:sp>
        <p:nvSpPr>
          <p:cNvPr id="3" name="Import check screenshot frame"/>
          <p:cNvSpPr/>
          <p:nvPr/>
        </p:nvSpPr>
        <p:spPr>
          <a:xfrm>
            <a:off x="4343400" y="1097280"/>
            <a:ext cx="4343400" cy="3004185"/>
          </a:xfrm>
          <a:prstGeom prst="rect">
            <a:avLst/>
          </a:prstGeom>
          <a:solidFill>
            <a:schemeClr val="bg1"/>
          </a:solidFill>
          <a:ln w="9525">
            <a:solidFill>
              <a:srgbClr val="D9E1DE"/>
            </a:solidFill>
            <a:prstDash val="solid"/>
          </a:ln>
          <a:effectLst>
            <a:outerShdw sx="100000" sy="100000" kx="0" ky="0" algn="bl" rotWithShape="0" blurRad="101600" dist="25400" dir="5400000">
              <a:srgbClr val="000000">
                <a:alpha val="18000"/>
              </a:srgbClr>
            </a:outerShdw>
          </a:effectLst>
        </p:spPr>
      </p:sp>
      <p:pic>
        <p:nvPicPr>
          <p:cNvPr id="4" name="Import check screenshot" descr="Import check screenshot">    </p:cNvPr>
          <p:cNvPicPr>
            <a:picLocks noChangeAspect="1"/>
          </p:cNvPicPr>
          <p:nvPr/>
        </p:nvPicPr>
        <p:blipFill>
          <a:blip r:embed="rId1"/>
          <a:stretch>
            <a:fillRect/>
          </a:stretch>
        </p:blipFill>
        <p:spPr>
          <a:xfrm>
            <a:off x="4343400" y="1097280"/>
            <a:ext cx="4343400" cy="3004185"/>
          </a:xfrm>
          <a:prstGeom prst="rect">
            <a:avLst/>
          </a:prstGeom>
        </p:spPr>
      </p:pic>
      <p:sp>
        <p:nvSpPr>
          <p:cNvPr id="5" name="Text 2"/>
          <p:cNvSpPr txBox="1"/>
          <p:nvPr/>
        </p:nvSpPr>
        <p:spPr>
          <a:xfrm>
            <a:off x="4343400" y="4211193"/>
            <a:ext cx="4343400" cy="274320"/>
          </a:xfrm>
          <a:prstGeom prst="rect">
            <a:avLst/>
          </a:prstGeom>
          <a:noFill/>
          <a:ln/>
        </p:spPr>
        <p:txBody>
          <a:bodyPr wrap="square" lIns="0" tIns="0" rIns="0" bIns="0" rtlCol="0" anchor="t"/>
          <a:lstStyle/>
          <a:p>
            <a:pPr indent="0" marL="0">
              <a:buNone/>
            </a:pPr>
            <a:r>
              <a:rPr lang="en-US" sz="1100" dirty="0">
                <a:solidFill>
                  <a:srgbClr val="586966"/>
                </a:solidFill>
              </a:rPr>
              <a:t>Sample file: 7 rows in, 3 imported, 4 sent back with reasons.</a:t>
            </a:r>
            <a:endParaRPr lang="en-US" sz="1100" dirty="0"/>
          </a:p>
        </p:txBody>
      </p:sp>
      <p:sp>
        <p:nvSpPr>
          <p:cNvPr id="6" name="Text 3"/>
          <p:cNvSpPr txBox="1"/>
          <p:nvPr/>
        </p:nvSpPr>
        <p:spPr>
          <a:xfrm>
            <a:off x="457200" y="1143000"/>
            <a:ext cx="3611880" cy="548640"/>
          </a:xfrm>
          <a:prstGeom prst="rect">
            <a:avLst/>
          </a:prstGeom>
          <a:noFill/>
          <a:ln/>
        </p:spPr>
        <p:txBody>
          <a:bodyPr wrap="square" lIns="0" tIns="0" rIns="0" bIns="0" rtlCol="0" anchor="t"/>
          <a:lstStyle/>
          <a:p>
            <a:pPr indent="0" marL="0">
              <a:buNone/>
            </a:pPr>
            <a:r>
              <a:rPr lang="en-US" sz="1500" b="1" dirty="0">
                <a:solidFill>
                  <a:schemeClr val="tx1"/>
                </a:solidFill>
              </a:rPr>
              <a:t>Every row is checked before anything is saved:</a:t>
            </a:r>
            <a:endParaRPr lang="en-US" sz="1500" dirty="0"/>
          </a:p>
        </p:txBody>
      </p:sp>
      <p:pic>
        <p:nvPicPr>
          <p:cNvPr id="7" name="catch 1 icon" descr="preencoded.png">    </p:cNvPr>
          <p:cNvPicPr>
            <a:picLocks noChangeAspect="1"/>
          </p:cNvPicPr>
          <p:nvPr/>
        </p:nvPicPr>
        <p:blipFill>
          <a:blip r:embed="rId2"/>
          <a:stretch>
            <a:fillRect/>
          </a:stretch>
        </p:blipFill>
        <p:spPr>
          <a:xfrm>
            <a:off x="457200" y="1847088"/>
            <a:ext cx="274320" cy="274320"/>
          </a:xfrm>
          <a:prstGeom prst="rect">
            <a:avLst/>
          </a:prstGeom>
        </p:spPr>
      </p:pic>
      <p:sp>
        <p:nvSpPr>
          <p:cNvPr id="8" name="Text 4"/>
          <p:cNvSpPr txBox="1"/>
          <p:nvPr/>
        </p:nvSpPr>
        <p:spPr>
          <a:xfrm>
            <a:off x="868680" y="1828800"/>
            <a:ext cx="3200400" cy="457200"/>
          </a:xfrm>
          <a:prstGeom prst="rect">
            <a:avLst/>
          </a:prstGeom>
          <a:noFill/>
          <a:ln/>
        </p:spPr>
        <p:txBody>
          <a:bodyPr wrap="square" lIns="0" tIns="0" rIns="0" bIns="0" rtlCol="0" anchor="t"/>
          <a:lstStyle/>
          <a:p>
            <a:pPr indent="0" marL="0">
              <a:buNone/>
            </a:pPr>
            <a:r>
              <a:rPr lang="en-US" sz="1400" dirty="0">
                <a:solidFill>
                  <a:schemeClr val="tx1"/>
                </a:solidFill>
              </a:rPr>
              <a:t>Wrong check digit (a typo in the ID)</a:t>
            </a:r>
            <a:endParaRPr lang="en-US" sz="1400" dirty="0"/>
          </a:p>
        </p:txBody>
      </p:sp>
      <p:pic>
        <p:nvPicPr>
          <p:cNvPr id="9" name="catch 2 icon" descr="preencoded.png">    </p:cNvPr>
          <p:cNvPicPr>
            <a:picLocks noChangeAspect="1"/>
          </p:cNvPicPr>
          <p:nvPr/>
        </p:nvPicPr>
        <p:blipFill>
          <a:blip r:embed="rId3"/>
          <a:stretch>
            <a:fillRect/>
          </a:stretch>
        </p:blipFill>
        <p:spPr>
          <a:xfrm>
            <a:off x="457200" y="2395728"/>
            <a:ext cx="274320" cy="274320"/>
          </a:xfrm>
          <a:prstGeom prst="rect">
            <a:avLst/>
          </a:prstGeom>
        </p:spPr>
      </p:pic>
      <p:sp>
        <p:nvSpPr>
          <p:cNvPr id="10" name="Text 5"/>
          <p:cNvSpPr txBox="1"/>
          <p:nvPr/>
        </p:nvSpPr>
        <p:spPr>
          <a:xfrm>
            <a:off x="868680" y="2377440"/>
            <a:ext cx="3200400" cy="457200"/>
          </a:xfrm>
          <a:prstGeom prst="rect">
            <a:avLst/>
          </a:prstGeom>
          <a:noFill/>
          <a:ln/>
        </p:spPr>
        <p:txBody>
          <a:bodyPr wrap="square" lIns="0" tIns="0" rIns="0" bIns="0" rtlCol="0" anchor="t"/>
          <a:lstStyle/>
          <a:p>
            <a:pPr indent="0" marL="0">
              <a:buNone/>
            </a:pPr>
            <a:r>
              <a:rPr lang="en-US" sz="1400" dirty="0">
                <a:solidFill>
                  <a:schemeClr val="tx1"/>
                </a:solidFill>
              </a:rPr>
              <a:t>A birth date that doesn't exist</a:t>
            </a:r>
            <a:endParaRPr lang="en-US" sz="1400" dirty="0"/>
          </a:p>
        </p:txBody>
      </p:sp>
      <p:pic>
        <p:nvPicPr>
          <p:cNvPr id="11" name="catch 3 icon" descr="preencoded.png">    </p:cNvPr>
          <p:cNvPicPr>
            <a:picLocks noChangeAspect="1"/>
          </p:cNvPicPr>
          <p:nvPr/>
        </p:nvPicPr>
        <p:blipFill>
          <a:blip r:embed="rId4"/>
          <a:stretch>
            <a:fillRect/>
          </a:stretch>
        </p:blipFill>
        <p:spPr>
          <a:xfrm>
            <a:off x="457200" y="2944368"/>
            <a:ext cx="274320" cy="274320"/>
          </a:xfrm>
          <a:prstGeom prst="rect">
            <a:avLst/>
          </a:prstGeom>
        </p:spPr>
      </p:pic>
      <p:sp>
        <p:nvSpPr>
          <p:cNvPr id="12" name="Text 6"/>
          <p:cNvSpPr txBox="1"/>
          <p:nvPr/>
        </p:nvSpPr>
        <p:spPr>
          <a:xfrm>
            <a:off x="868680" y="2926080"/>
            <a:ext cx="3200400" cy="457200"/>
          </a:xfrm>
          <a:prstGeom prst="rect">
            <a:avLst/>
          </a:prstGeom>
          <a:noFill/>
          <a:ln/>
        </p:spPr>
        <p:txBody>
          <a:bodyPr wrap="square" lIns="0" tIns="0" rIns="0" bIns="0" rtlCol="0" anchor="t"/>
          <a:lstStyle/>
          <a:p>
            <a:pPr indent="0" marL="0">
              <a:buNone/>
            </a:pPr>
            <a:r>
              <a:rPr lang="en-US" sz="1400" dirty="0">
                <a:solidFill>
                  <a:schemeClr val="tx1"/>
                </a:solidFill>
              </a:rPr>
              <a:t>The same student twice in one file</a:t>
            </a:r>
            <a:endParaRPr lang="en-US" sz="1400" dirty="0"/>
          </a:p>
        </p:txBody>
      </p:sp>
      <p:pic>
        <p:nvPicPr>
          <p:cNvPr id="13" name="catch 4 icon" descr="preencoded.png">    </p:cNvPr>
          <p:cNvPicPr>
            <a:picLocks noChangeAspect="1"/>
          </p:cNvPicPr>
          <p:nvPr/>
        </p:nvPicPr>
        <p:blipFill>
          <a:blip r:embed="rId5"/>
          <a:stretch>
            <a:fillRect/>
          </a:stretch>
        </p:blipFill>
        <p:spPr>
          <a:xfrm>
            <a:off x="457200" y="3493008"/>
            <a:ext cx="274320" cy="274320"/>
          </a:xfrm>
          <a:prstGeom prst="rect">
            <a:avLst/>
          </a:prstGeom>
        </p:spPr>
      </p:pic>
      <p:sp>
        <p:nvSpPr>
          <p:cNvPr id="14" name="Text 7"/>
          <p:cNvSpPr txBox="1"/>
          <p:nvPr/>
        </p:nvSpPr>
        <p:spPr>
          <a:xfrm>
            <a:off x="868680" y="3474720"/>
            <a:ext cx="3200400" cy="457200"/>
          </a:xfrm>
          <a:prstGeom prst="rect">
            <a:avLst/>
          </a:prstGeom>
          <a:noFill/>
          <a:ln/>
        </p:spPr>
        <p:txBody>
          <a:bodyPr wrap="square" lIns="0" tIns="0" rIns="0" bIns="0" rtlCol="0" anchor="t"/>
          <a:lstStyle/>
          <a:p>
            <a:pPr indent="0" marL="0">
              <a:buNone/>
            </a:pPr>
            <a:r>
              <a:rPr lang="en-US" sz="1400" dirty="0">
                <a:solidFill>
                  <a:schemeClr val="tx1"/>
                </a:solidFill>
              </a:rPr>
              <a:t>A misspelt institution, with a suggestion</a:t>
            </a:r>
            <a:endParaRPr lang="en-US" sz="1400" dirty="0"/>
          </a:p>
        </p:txBody>
      </p:sp>
      <p:pic>
        <p:nvPicPr>
          <p:cNvPr id="15" name="catch 5 icon" descr="preencoded.png">    </p:cNvPr>
          <p:cNvPicPr>
            <a:picLocks noChangeAspect="1"/>
          </p:cNvPicPr>
          <p:nvPr/>
        </p:nvPicPr>
        <p:blipFill>
          <a:blip r:embed="rId6"/>
          <a:stretch>
            <a:fillRect/>
          </a:stretch>
        </p:blipFill>
        <p:spPr>
          <a:xfrm>
            <a:off x="457200" y="4041648"/>
            <a:ext cx="274320" cy="274320"/>
          </a:xfrm>
          <a:prstGeom prst="rect">
            <a:avLst/>
          </a:prstGeom>
        </p:spPr>
      </p:pic>
      <p:sp>
        <p:nvSpPr>
          <p:cNvPr id="16" name="Text 8"/>
          <p:cNvSpPr txBox="1"/>
          <p:nvPr/>
        </p:nvSpPr>
        <p:spPr>
          <a:xfrm>
            <a:off x="868680" y="4023360"/>
            <a:ext cx="3200400" cy="457200"/>
          </a:xfrm>
          <a:prstGeom prst="rect">
            <a:avLst/>
          </a:prstGeom>
          <a:noFill/>
          <a:ln/>
        </p:spPr>
        <p:txBody>
          <a:bodyPr wrap="square" lIns="0" tIns="0" rIns="0" bIns="0" rtlCol="0" anchor="t"/>
          <a:lstStyle/>
          <a:p>
            <a:pPr indent="0" marL="0">
              <a:buNone/>
            </a:pPr>
            <a:r>
              <a:rPr lang="en-US" sz="1400" dirty="0">
                <a:solidFill>
                  <a:schemeClr val="tx1"/>
                </a:solidFill>
              </a:rPr>
              <a:t>Columns we don't need, like income, discarded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Reports that can't single anyone out</a:t>
            </a:r>
            <a:endParaRPr lang="en-US" sz="3200" dirty="0"/>
          </a:p>
        </p:txBody>
      </p:sp>
      <p:sp>
        <p:nvSpPr>
          <p:cNvPr id="3" name="Text 1"/>
          <p:cNvSpPr txBox="1"/>
          <p:nvPr/>
        </p:nvSpPr>
        <p:spPr>
          <a:xfrm>
            <a:off x="457200" y="1143000"/>
            <a:ext cx="3108960" cy="1051560"/>
          </a:xfrm>
          <a:prstGeom prst="rect">
            <a:avLst/>
          </a:prstGeom>
          <a:noFill/>
          <a:ln/>
        </p:spPr>
        <p:txBody>
          <a:bodyPr wrap="square" lIns="0" tIns="0" rIns="0" bIns="0" rtlCol="0" anchor="ctr"/>
          <a:lstStyle/>
          <a:p>
            <a:pPr indent="0" marL="0">
              <a:buNone/>
            </a:pPr>
            <a:r>
              <a:rPr lang="en-US" sz="7200" b="1" dirty="0">
                <a:solidFill>
                  <a:schemeClr val="accent1"/>
                </a:solidFill>
              </a:rPr>
              <a:t>&lt;5</a:t>
            </a:r>
            <a:endParaRPr lang="en-US" sz="7200" dirty="0"/>
          </a:p>
        </p:txBody>
      </p:sp>
      <p:sp>
        <p:nvSpPr>
          <p:cNvPr id="4" name="Text 2"/>
          <p:cNvSpPr txBox="1"/>
          <p:nvPr/>
        </p:nvSpPr>
        <p:spPr>
          <a:xfrm>
            <a:off x="457200" y="2286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Any count under 5 is hidden</a:t>
            </a:r>
            <a:endParaRPr lang="en-US" sz="1700" dirty="0"/>
          </a:p>
        </p:txBody>
      </p:sp>
      <p:sp>
        <p:nvSpPr>
          <p:cNvPr id="5" name="Text 3"/>
          <p:cNvSpPr txBox="1"/>
          <p:nvPr/>
        </p:nvSpPr>
        <p:spPr>
          <a:xfrm>
            <a:off x="457200" y="2697480"/>
            <a:ext cx="3108960" cy="1463040"/>
          </a:xfrm>
          <a:prstGeom prst="rect">
            <a:avLst/>
          </a:prstGeom>
          <a:noFill/>
          <a:ln/>
        </p:spPr>
        <p:txBody>
          <a:bodyPr wrap="square" lIns="0" tIns="0" rIns="0" bIns="0" rtlCol="0" anchor="t"/>
          <a:lstStyle/>
          <a:p>
            <a:pPr indent="0" marL="0">
              <a:buNone/>
            </a:pPr>
            <a:r>
              <a:rPr lang="en-US" sz="1400" dirty="0">
                <a:solidFill>
                  <a:srgbClr val="3B4A47"/>
                </a:solidFill>
              </a:rPr>
              <a:t>Totals are hidden too when they'd let someone work out the hidden number. Reports carry counts only, never names or ID numbers. Every export is logged.</a:t>
            </a:r>
            <a:endParaRPr lang="en-US" sz="1400" dirty="0"/>
          </a:p>
        </p:txBody>
      </p:sp>
      <p:sp>
        <p:nvSpPr>
          <p:cNvPr id="6" name="Reports screenshot frame"/>
          <p:cNvSpPr/>
          <p:nvPr/>
        </p:nvSpPr>
        <p:spPr>
          <a:xfrm>
            <a:off x="3931920" y="1143000"/>
            <a:ext cx="4754880" cy="2417064"/>
          </a:xfrm>
          <a:prstGeom prst="rect">
            <a:avLst/>
          </a:prstGeom>
          <a:solidFill>
            <a:schemeClr val="bg1"/>
          </a:solidFill>
          <a:ln w="9525">
            <a:solidFill>
              <a:srgbClr val="D9E1DE"/>
            </a:solidFill>
            <a:prstDash val="solid"/>
          </a:ln>
          <a:effectLst>
            <a:outerShdw sx="100000" sy="100000" kx="0" ky="0" algn="bl" rotWithShape="0" blurRad="101600" dist="25400" dir="5400000">
              <a:srgbClr val="000000">
                <a:alpha val="18000"/>
              </a:srgbClr>
            </a:outerShdw>
          </a:effectLst>
        </p:spPr>
      </p:sp>
      <p:pic>
        <p:nvPicPr>
          <p:cNvPr id="7" name="Reports screenshot" descr="Reports screenshot">    </p:cNvPr>
          <p:cNvPicPr>
            <a:picLocks noChangeAspect="1"/>
          </p:cNvPicPr>
          <p:nvPr/>
        </p:nvPicPr>
        <p:blipFill>
          <a:blip r:embed="rId1"/>
          <a:stretch>
            <a:fillRect/>
          </a:stretch>
        </p:blipFill>
        <p:spPr>
          <a:xfrm>
            <a:off x="3931920" y="1143000"/>
            <a:ext cx="4754880" cy="2417064"/>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A history nobody can rewrite</a:t>
            </a:r>
            <a:endParaRPr lang="en-US" sz="3200" dirty="0"/>
          </a:p>
        </p:txBody>
      </p:sp>
      <p:sp>
        <p:nvSpPr>
          <p:cNvPr id="3" name="Text 1"/>
          <p:cNvSpPr txBox="1"/>
          <p:nvPr/>
        </p:nvSpPr>
        <p:spPr>
          <a:xfrm>
            <a:off x="457200" y="1143000"/>
            <a:ext cx="3291840" cy="274320"/>
          </a:xfrm>
          <a:prstGeom prst="rect">
            <a:avLst/>
          </a:prstGeom>
          <a:noFill/>
          <a:ln/>
        </p:spPr>
        <p:txBody>
          <a:bodyPr wrap="square" lIns="0" tIns="0" rIns="0" bIns="0" rtlCol="0" anchor="t"/>
          <a:lstStyle/>
          <a:p>
            <a:pPr indent="0" marL="0">
              <a:buNone/>
            </a:pPr>
            <a:r>
              <a:rPr lang="en-US" sz="1500" b="1" dirty="0">
                <a:solidFill>
                  <a:schemeClr val="tx1"/>
                </a:solidFill>
              </a:rPr>
              <a:t>Written by the database</a:t>
            </a:r>
            <a:endParaRPr lang="en-US" sz="1500" dirty="0"/>
          </a:p>
        </p:txBody>
      </p:sp>
      <p:sp>
        <p:nvSpPr>
          <p:cNvPr id="4" name="Text 2"/>
          <p:cNvSpPr txBox="1"/>
          <p:nvPr/>
        </p:nvSpPr>
        <p:spPr>
          <a:xfrm>
            <a:off x="457200" y="1435608"/>
            <a:ext cx="3291840" cy="457200"/>
          </a:xfrm>
          <a:prstGeom prst="rect">
            <a:avLst/>
          </a:prstGeom>
          <a:noFill/>
          <a:ln/>
        </p:spPr>
        <p:txBody>
          <a:bodyPr wrap="square" lIns="0" tIns="0" rIns="0" bIns="0" rtlCol="0" anchor="t"/>
          <a:lstStyle/>
          <a:p>
            <a:pPr indent="0" marL="0">
              <a:buNone/>
            </a:pPr>
            <a:r>
              <a:rPr lang="en-US" sz="1200" dirty="0">
                <a:solidFill>
                  <a:srgbClr val="3B4A47"/>
                </a:solidFill>
              </a:rPr>
              <a:t>Every view, reveal, change, import and export, by name and time.</a:t>
            </a:r>
            <a:endParaRPr lang="en-US" sz="1200" dirty="0"/>
          </a:p>
        </p:txBody>
      </p:sp>
      <p:sp>
        <p:nvSpPr>
          <p:cNvPr id="5" name="Text 3"/>
          <p:cNvSpPr txBox="1"/>
          <p:nvPr/>
        </p:nvSpPr>
        <p:spPr>
          <a:xfrm>
            <a:off x="457200" y="1920240"/>
            <a:ext cx="3291840" cy="274320"/>
          </a:xfrm>
          <a:prstGeom prst="rect">
            <a:avLst/>
          </a:prstGeom>
          <a:noFill/>
          <a:ln/>
        </p:spPr>
        <p:txBody>
          <a:bodyPr wrap="square" lIns="0" tIns="0" rIns="0" bIns="0" rtlCol="0" anchor="t"/>
          <a:lstStyle/>
          <a:p>
            <a:pPr indent="0" marL="0">
              <a:buNone/>
            </a:pPr>
            <a:r>
              <a:rPr lang="en-US" sz="1500" b="1" dirty="0">
                <a:solidFill>
                  <a:schemeClr val="tx1"/>
                </a:solidFill>
              </a:rPr>
              <a:t>Chained together</a:t>
            </a:r>
            <a:endParaRPr lang="en-US" sz="1500" dirty="0"/>
          </a:p>
        </p:txBody>
      </p:sp>
      <p:sp>
        <p:nvSpPr>
          <p:cNvPr id="6" name="Text 4"/>
          <p:cNvSpPr txBox="1"/>
          <p:nvPr/>
        </p:nvSpPr>
        <p:spPr>
          <a:xfrm>
            <a:off x="457200" y="2212848"/>
            <a:ext cx="3291840" cy="457200"/>
          </a:xfrm>
          <a:prstGeom prst="rect">
            <a:avLst/>
          </a:prstGeom>
          <a:noFill/>
          <a:ln/>
        </p:spPr>
        <p:txBody>
          <a:bodyPr wrap="square" lIns="0" tIns="0" rIns="0" bIns="0" rtlCol="0" anchor="t"/>
          <a:lstStyle/>
          <a:p>
            <a:pPr indent="0" marL="0">
              <a:buNone/>
            </a:pPr>
            <a:r>
              <a:rPr lang="en-US" sz="1200" dirty="0">
                <a:solidFill>
                  <a:srgbClr val="3B4A47"/>
                </a:solidFill>
              </a:rPr>
              <a:t>Each entry carries a fingerprint of the one before it.</a:t>
            </a:r>
            <a:endParaRPr lang="en-US" sz="1200" dirty="0"/>
          </a:p>
        </p:txBody>
      </p:sp>
      <p:sp>
        <p:nvSpPr>
          <p:cNvPr id="7" name="Text 5"/>
          <p:cNvSpPr txBox="1"/>
          <p:nvPr/>
        </p:nvSpPr>
        <p:spPr>
          <a:xfrm>
            <a:off x="457200" y="2697480"/>
            <a:ext cx="3291840" cy="274320"/>
          </a:xfrm>
          <a:prstGeom prst="rect">
            <a:avLst/>
          </a:prstGeom>
          <a:noFill/>
          <a:ln/>
        </p:spPr>
        <p:txBody>
          <a:bodyPr wrap="square" lIns="0" tIns="0" rIns="0" bIns="0" rtlCol="0" anchor="t"/>
          <a:lstStyle/>
          <a:p>
            <a:pPr indent="0" marL="0">
              <a:buNone/>
            </a:pPr>
            <a:r>
              <a:rPr lang="en-US" sz="1500" b="1" dirty="0">
                <a:solidFill>
                  <a:schemeClr val="tx1"/>
                </a:solidFill>
              </a:rPr>
              <a:t>Tampering shows</a:t>
            </a:r>
            <a:endParaRPr lang="en-US" sz="1500" dirty="0"/>
          </a:p>
        </p:txBody>
      </p:sp>
      <p:sp>
        <p:nvSpPr>
          <p:cNvPr id="8" name="Text 6"/>
          <p:cNvSpPr txBox="1"/>
          <p:nvPr/>
        </p:nvSpPr>
        <p:spPr>
          <a:xfrm>
            <a:off x="457200" y="2990088"/>
            <a:ext cx="3291840" cy="457200"/>
          </a:xfrm>
          <a:prstGeom prst="rect">
            <a:avLst/>
          </a:prstGeom>
          <a:noFill/>
          <a:ln/>
        </p:spPr>
        <p:txBody>
          <a:bodyPr wrap="square" lIns="0" tIns="0" rIns="0" bIns="0" rtlCol="0" anchor="t"/>
          <a:lstStyle/>
          <a:p>
            <a:pPr indent="0" marL="0">
              <a:buNone/>
            </a:pPr>
            <a:r>
              <a:rPr lang="en-US" sz="1200" dirty="0">
                <a:solidFill>
                  <a:srgbClr val="3B4A47"/>
                </a:solidFill>
              </a:rPr>
              <a:t>Edit an old entry and verification names the exact one.</a:t>
            </a:r>
            <a:endParaRPr lang="en-US" sz="1200" dirty="0"/>
          </a:p>
        </p:txBody>
      </p:sp>
      <p:sp>
        <p:nvSpPr>
          <p:cNvPr id="9" name="Audit log screenshot frame"/>
          <p:cNvSpPr/>
          <p:nvPr/>
        </p:nvSpPr>
        <p:spPr>
          <a:xfrm>
            <a:off x="4023360" y="1097280"/>
            <a:ext cx="4663440" cy="2215134"/>
          </a:xfrm>
          <a:prstGeom prst="rect">
            <a:avLst/>
          </a:prstGeom>
          <a:solidFill>
            <a:schemeClr val="bg1"/>
          </a:solidFill>
          <a:ln w="9525">
            <a:solidFill>
              <a:srgbClr val="D9E1DE"/>
            </a:solidFill>
            <a:prstDash val="solid"/>
          </a:ln>
          <a:effectLst>
            <a:outerShdw sx="100000" sy="100000" kx="0" ky="0" algn="bl" rotWithShape="0" blurRad="101600" dist="25400" dir="5400000">
              <a:srgbClr val="000000">
                <a:alpha val="18000"/>
              </a:srgbClr>
            </a:outerShdw>
          </a:effectLst>
        </p:spPr>
      </p:sp>
      <p:pic>
        <p:nvPicPr>
          <p:cNvPr id="10" name="Audit log screenshot" descr="Audit log screenshot">    </p:cNvPr>
          <p:cNvPicPr>
            <a:picLocks noChangeAspect="1"/>
          </p:cNvPicPr>
          <p:nvPr/>
        </p:nvPicPr>
        <p:blipFill>
          <a:blip r:embed="rId1"/>
          <a:stretch>
            <a:fillRect/>
          </a:stretch>
        </p:blipFill>
        <p:spPr>
          <a:xfrm>
            <a:off x="4023360" y="1097280"/>
            <a:ext cx="4663440" cy="2215134"/>
          </a:xfrm>
          <a:prstGeom prst="rect">
            <a:avLst/>
          </a:prstGeom>
        </p:spPr>
      </p:pic>
      <p:sp>
        <p:nvSpPr>
          <p:cNvPr id="11" name="Entry 1 block"/>
          <p:cNvSpPr/>
          <p:nvPr/>
        </p:nvSpPr>
        <p:spPr>
          <a:xfrm>
            <a:off x="457200" y="3657600"/>
            <a:ext cx="1691640" cy="777240"/>
          </a:xfrm>
          <a:prstGeom prst="roundRect">
            <a:avLst>
              <a:gd name="adj" fmla="val 9412"/>
            </a:avLst>
          </a:prstGeom>
          <a:solidFill>
            <a:schemeClr val="bg2"/>
          </a:solidFill>
          <a:ln/>
        </p:spPr>
      </p:sp>
      <p:sp>
        <p:nvSpPr>
          <p:cNvPr id="12" name="Text 9"/>
          <p:cNvSpPr txBox="1"/>
          <p:nvPr/>
        </p:nvSpPr>
        <p:spPr>
          <a:xfrm>
            <a:off x="594360" y="3730752"/>
            <a:ext cx="1417320" cy="274320"/>
          </a:xfrm>
          <a:prstGeom prst="rect">
            <a:avLst/>
          </a:prstGeom>
          <a:noFill/>
          <a:ln/>
        </p:spPr>
        <p:txBody>
          <a:bodyPr wrap="square" lIns="0" tIns="0" rIns="0" bIns="0" rtlCol="0" anchor="t"/>
          <a:lstStyle/>
          <a:p>
            <a:pPr indent="0" marL="0">
              <a:buNone/>
            </a:pPr>
            <a:r>
              <a:rPr lang="en-US" sz="1300" b="1" dirty="0">
                <a:solidFill>
                  <a:schemeClr val="tx1"/>
                </a:solidFill>
              </a:rPr>
              <a:t>Entry 1</a:t>
            </a:r>
            <a:endParaRPr lang="en-US" sz="1300" dirty="0"/>
          </a:p>
        </p:txBody>
      </p:sp>
      <p:sp>
        <p:nvSpPr>
          <p:cNvPr id="13" name="Text 10"/>
          <p:cNvSpPr txBox="1"/>
          <p:nvPr/>
        </p:nvSpPr>
        <p:spPr>
          <a:xfrm>
            <a:off x="594360" y="4023360"/>
            <a:ext cx="1463040" cy="320040"/>
          </a:xfrm>
          <a:prstGeom prst="rect">
            <a:avLst/>
          </a:prstGeom>
          <a:noFill/>
          <a:ln/>
        </p:spPr>
        <p:txBody>
          <a:bodyPr wrap="square" lIns="0" tIns="0" rIns="0" bIns="0" rtlCol="0" anchor="t"/>
          <a:lstStyle/>
          <a:p>
            <a:pPr indent="0" marL="0">
              <a:buNone/>
            </a:pPr>
            <a:r>
              <a:rPr lang="en-US" sz="1100" dirty="0">
                <a:solidFill>
                  <a:srgbClr val="586966"/>
                </a:solidFill>
              </a:rPr>
              <a:t>fingerprint of entry 0</a:t>
            </a:r>
            <a:endParaRPr lang="en-US" sz="1100" dirty="0"/>
          </a:p>
        </p:txBody>
      </p:sp>
      <p:sp>
        <p:nvSpPr>
          <p:cNvPr id="14" name="chain arrow 1"/>
          <p:cNvSpPr/>
          <p:nvPr/>
        </p:nvSpPr>
        <p:spPr>
          <a:xfrm>
            <a:off x="2194560" y="4046220"/>
            <a:ext cx="365760" cy="0"/>
          </a:xfrm>
          <a:prstGeom prst="line">
            <a:avLst/>
          </a:prstGeom>
          <a:noFill/>
          <a:ln w="22225">
            <a:solidFill>
              <a:srgbClr val="0D6A5B"/>
            </a:solidFill>
            <a:prstDash val="solid"/>
            <a:tailEnd type="triangle"/>
          </a:ln>
        </p:spPr>
      </p:sp>
      <p:sp>
        <p:nvSpPr>
          <p:cNvPr id="15" name="Entry 2 block"/>
          <p:cNvSpPr/>
          <p:nvPr/>
        </p:nvSpPr>
        <p:spPr>
          <a:xfrm>
            <a:off x="2606040" y="3657600"/>
            <a:ext cx="1691640" cy="777240"/>
          </a:xfrm>
          <a:prstGeom prst="roundRect">
            <a:avLst>
              <a:gd name="adj" fmla="val 9412"/>
            </a:avLst>
          </a:prstGeom>
          <a:solidFill>
            <a:srgbClr val="DFF0EB"/>
          </a:solidFill>
          <a:ln/>
        </p:spPr>
      </p:sp>
      <p:sp>
        <p:nvSpPr>
          <p:cNvPr id="16" name="Text 13"/>
          <p:cNvSpPr txBox="1"/>
          <p:nvPr/>
        </p:nvSpPr>
        <p:spPr>
          <a:xfrm>
            <a:off x="2743200" y="3730752"/>
            <a:ext cx="1417320" cy="274320"/>
          </a:xfrm>
          <a:prstGeom prst="rect">
            <a:avLst/>
          </a:prstGeom>
          <a:noFill/>
          <a:ln/>
        </p:spPr>
        <p:txBody>
          <a:bodyPr wrap="square" lIns="0" tIns="0" rIns="0" bIns="0" rtlCol="0" anchor="t"/>
          <a:lstStyle/>
          <a:p>
            <a:pPr indent="0" marL="0">
              <a:buNone/>
            </a:pPr>
            <a:r>
              <a:rPr lang="en-US" sz="1300" b="1" dirty="0">
                <a:solidFill>
                  <a:schemeClr val="tx1"/>
                </a:solidFill>
              </a:rPr>
              <a:t>Entry 2</a:t>
            </a:r>
            <a:endParaRPr lang="en-US" sz="1300" dirty="0"/>
          </a:p>
        </p:txBody>
      </p:sp>
      <p:sp>
        <p:nvSpPr>
          <p:cNvPr id="17" name="Text 14"/>
          <p:cNvSpPr txBox="1"/>
          <p:nvPr/>
        </p:nvSpPr>
        <p:spPr>
          <a:xfrm>
            <a:off x="2743200" y="4023360"/>
            <a:ext cx="1463040" cy="320040"/>
          </a:xfrm>
          <a:prstGeom prst="rect">
            <a:avLst/>
          </a:prstGeom>
          <a:noFill/>
          <a:ln/>
        </p:spPr>
        <p:txBody>
          <a:bodyPr wrap="square" lIns="0" tIns="0" rIns="0" bIns="0" rtlCol="0" anchor="t"/>
          <a:lstStyle/>
          <a:p>
            <a:pPr indent="0" marL="0">
              <a:buNone/>
            </a:pPr>
            <a:r>
              <a:rPr lang="en-US" sz="1100" dirty="0">
                <a:solidFill>
                  <a:srgbClr val="586966"/>
                </a:solidFill>
              </a:rPr>
              <a:t>fingerprint of entry 1</a:t>
            </a:r>
            <a:endParaRPr lang="en-US" sz="1100" dirty="0"/>
          </a:p>
        </p:txBody>
      </p:sp>
      <p:sp>
        <p:nvSpPr>
          <p:cNvPr id="18" name="chain arrow 2"/>
          <p:cNvSpPr/>
          <p:nvPr/>
        </p:nvSpPr>
        <p:spPr>
          <a:xfrm>
            <a:off x="4343400" y="4046220"/>
            <a:ext cx="365760" cy="0"/>
          </a:xfrm>
          <a:prstGeom prst="line">
            <a:avLst/>
          </a:prstGeom>
          <a:noFill/>
          <a:ln w="22225">
            <a:solidFill>
              <a:srgbClr val="0D6A5B"/>
            </a:solidFill>
            <a:prstDash val="solid"/>
            <a:tailEnd type="triangle"/>
          </a:ln>
        </p:spPr>
      </p:sp>
      <p:sp>
        <p:nvSpPr>
          <p:cNvPr id="19" name="Entry 3 block"/>
          <p:cNvSpPr/>
          <p:nvPr/>
        </p:nvSpPr>
        <p:spPr>
          <a:xfrm>
            <a:off x="4754880" y="3657600"/>
            <a:ext cx="1691640" cy="777240"/>
          </a:xfrm>
          <a:prstGeom prst="roundRect">
            <a:avLst>
              <a:gd name="adj" fmla="val 9412"/>
            </a:avLst>
          </a:prstGeom>
          <a:solidFill>
            <a:schemeClr val="bg2"/>
          </a:solidFill>
          <a:ln/>
        </p:spPr>
      </p:sp>
      <p:sp>
        <p:nvSpPr>
          <p:cNvPr id="20" name="Text 17"/>
          <p:cNvSpPr txBox="1"/>
          <p:nvPr/>
        </p:nvSpPr>
        <p:spPr>
          <a:xfrm>
            <a:off x="4892040" y="3730752"/>
            <a:ext cx="1417320" cy="274320"/>
          </a:xfrm>
          <a:prstGeom prst="rect">
            <a:avLst/>
          </a:prstGeom>
          <a:noFill/>
          <a:ln/>
        </p:spPr>
        <p:txBody>
          <a:bodyPr wrap="square" lIns="0" tIns="0" rIns="0" bIns="0" rtlCol="0" anchor="t"/>
          <a:lstStyle/>
          <a:p>
            <a:pPr indent="0" marL="0">
              <a:buNone/>
            </a:pPr>
            <a:r>
              <a:rPr lang="en-US" sz="1300" b="1" dirty="0">
                <a:solidFill>
                  <a:schemeClr val="tx1"/>
                </a:solidFill>
              </a:rPr>
              <a:t>Entry 3</a:t>
            </a:r>
            <a:endParaRPr lang="en-US" sz="1300" dirty="0"/>
          </a:p>
        </p:txBody>
      </p:sp>
      <p:sp>
        <p:nvSpPr>
          <p:cNvPr id="21" name="Text 18"/>
          <p:cNvSpPr txBox="1"/>
          <p:nvPr/>
        </p:nvSpPr>
        <p:spPr>
          <a:xfrm>
            <a:off x="4892040" y="4023360"/>
            <a:ext cx="1463040" cy="320040"/>
          </a:xfrm>
          <a:prstGeom prst="rect">
            <a:avLst/>
          </a:prstGeom>
          <a:noFill/>
          <a:ln/>
        </p:spPr>
        <p:txBody>
          <a:bodyPr wrap="square" lIns="0" tIns="0" rIns="0" bIns="0" rtlCol="0" anchor="t"/>
          <a:lstStyle/>
          <a:p>
            <a:pPr indent="0" marL="0">
              <a:buNone/>
            </a:pPr>
            <a:r>
              <a:rPr lang="en-US" sz="1100" dirty="0">
                <a:solidFill>
                  <a:srgbClr val="586966"/>
                </a:solidFill>
              </a:rPr>
              <a:t>fingerprint of entry 2</a:t>
            </a:r>
            <a:endParaRPr lang="en-US" sz="1100" dirty="0"/>
          </a:p>
        </p:txBody>
      </p:sp>
      <p:sp>
        <p:nvSpPr>
          <p:cNvPr id="22" name="chain arrow 3"/>
          <p:cNvSpPr/>
          <p:nvPr/>
        </p:nvSpPr>
        <p:spPr>
          <a:xfrm>
            <a:off x="6492240" y="4046220"/>
            <a:ext cx="365760" cy="0"/>
          </a:xfrm>
          <a:prstGeom prst="line">
            <a:avLst/>
          </a:prstGeom>
          <a:noFill/>
          <a:ln w="22225">
            <a:solidFill>
              <a:srgbClr val="0D6A5B"/>
            </a:solidFill>
            <a:prstDash val="solid"/>
            <a:tailEnd type="triangle"/>
          </a:ln>
        </p:spPr>
      </p:sp>
      <p:sp>
        <p:nvSpPr>
          <p:cNvPr id="23" name="Entry 4 block"/>
          <p:cNvSpPr/>
          <p:nvPr/>
        </p:nvSpPr>
        <p:spPr>
          <a:xfrm>
            <a:off x="6903720" y="3657600"/>
            <a:ext cx="1691640" cy="777240"/>
          </a:xfrm>
          <a:prstGeom prst="roundRect">
            <a:avLst>
              <a:gd name="adj" fmla="val 9412"/>
            </a:avLst>
          </a:prstGeom>
          <a:solidFill>
            <a:schemeClr val="bg2"/>
          </a:solidFill>
          <a:ln/>
        </p:spPr>
      </p:sp>
      <p:sp>
        <p:nvSpPr>
          <p:cNvPr id="24" name="Text 21"/>
          <p:cNvSpPr txBox="1"/>
          <p:nvPr/>
        </p:nvSpPr>
        <p:spPr>
          <a:xfrm>
            <a:off x="7040880" y="3730752"/>
            <a:ext cx="1417320" cy="274320"/>
          </a:xfrm>
          <a:prstGeom prst="rect">
            <a:avLst/>
          </a:prstGeom>
          <a:noFill/>
          <a:ln/>
        </p:spPr>
        <p:txBody>
          <a:bodyPr wrap="square" lIns="0" tIns="0" rIns="0" bIns="0" rtlCol="0" anchor="t"/>
          <a:lstStyle/>
          <a:p>
            <a:pPr indent="0" marL="0">
              <a:buNone/>
            </a:pPr>
            <a:r>
              <a:rPr lang="en-US" sz="1300" b="1" dirty="0">
                <a:solidFill>
                  <a:schemeClr val="tx1"/>
                </a:solidFill>
              </a:rPr>
              <a:t>Entry 4</a:t>
            </a:r>
            <a:endParaRPr lang="en-US" sz="1300" dirty="0"/>
          </a:p>
        </p:txBody>
      </p:sp>
      <p:sp>
        <p:nvSpPr>
          <p:cNvPr id="25" name="Text 22"/>
          <p:cNvSpPr txBox="1"/>
          <p:nvPr/>
        </p:nvSpPr>
        <p:spPr>
          <a:xfrm>
            <a:off x="7040880" y="4023360"/>
            <a:ext cx="1463040" cy="320040"/>
          </a:xfrm>
          <a:prstGeom prst="rect">
            <a:avLst/>
          </a:prstGeom>
          <a:noFill/>
          <a:ln/>
        </p:spPr>
        <p:txBody>
          <a:bodyPr wrap="square" lIns="0" tIns="0" rIns="0" bIns="0" rtlCol="0" anchor="t"/>
          <a:lstStyle/>
          <a:p>
            <a:pPr indent="0" marL="0">
              <a:buNone/>
            </a:pPr>
            <a:r>
              <a:rPr lang="en-US" sz="1100" dirty="0">
                <a:solidFill>
                  <a:srgbClr val="586966"/>
                </a:solidFill>
              </a:rPr>
              <a:t>fingerprint of entry 3</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Privacy designed in, not added later</a:t>
            </a:r>
            <a:endParaRPr lang="en-US" sz="3200" dirty="0"/>
          </a:p>
        </p:txBody>
      </p:sp>
      <p:sp>
        <p:nvSpPr>
          <p:cNvPr id="3" name="Minimise card"/>
          <p:cNvSpPr/>
          <p:nvPr/>
        </p:nvSpPr>
        <p:spPr>
          <a:xfrm>
            <a:off x="457200" y="1143000"/>
            <a:ext cx="2560320" cy="1554480"/>
          </a:xfrm>
          <a:prstGeom prst="roundRect">
            <a:avLst>
              <a:gd name="adj" fmla="val 4706"/>
            </a:avLst>
          </a:prstGeom>
          <a:solidFill>
            <a:schemeClr val="bg2"/>
          </a:solidFill>
          <a:ln/>
        </p:spPr>
      </p:sp>
      <p:sp>
        <p:nvSpPr>
          <p:cNvPr id="4" name="Text 2"/>
          <p:cNvSpPr txBox="1"/>
          <p:nvPr/>
        </p:nvSpPr>
        <p:spPr>
          <a:xfrm>
            <a:off x="685800" y="1344168"/>
            <a:ext cx="1280160" cy="320040"/>
          </a:xfrm>
          <a:prstGeom prst="rect">
            <a:avLst/>
          </a:prstGeom>
          <a:noFill/>
          <a:ln/>
        </p:spPr>
        <p:txBody>
          <a:bodyPr wrap="square" lIns="0" tIns="0" rIns="0" bIns="0" rtlCol="0" anchor="t"/>
          <a:lstStyle/>
          <a:p>
            <a:pPr indent="0" marL="0">
              <a:buNone/>
            </a:pPr>
            <a:r>
              <a:rPr lang="en-US" sz="1700" b="1" dirty="0">
                <a:solidFill>
                  <a:schemeClr val="tx1"/>
                </a:solidFill>
              </a:rPr>
              <a:t>Minimise</a:t>
            </a:r>
            <a:endParaRPr lang="en-US" sz="1700" dirty="0"/>
          </a:p>
        </p:txBody>
      </p:sp>
      <p:sp>
        <p:nvSpPr>
          <p:cNvPr id="5" name="Minimise status pill"/>
          <p:cNvSpPr/>
          <p:nvPr/>
        </p:nvSpPr>
        <p:spPr>
          <a:xfrm>
            <a:off x="1874520" y="1362456"/>
            <a:ext cx="960120" cy="274320"/>
          </a:xfrm>
          <a:prstGeom prst="roundRect">
            <a:avLst>
              <a:gd name="adj" fmla="val 50000"/>
            </a:avLst>
          </a:prstGeom>
          <a:solidFill>
            <a:srgbClr val="E1F3E8"/>
          </a:solidFill>
          <a:ln/>
        </p:spPr>
      </p:sp>
      <p:sp>
        <p:nvSpPr>
          <p:cNvPr id="6" name="Text 4"/>
          <p:cNvSpPr txBox="1"/>
          <p:nvPr/>
        </p:nvSpPr>
        <p:spPr>
          <a:xfrm>
            <a:off x="1874520" y="1362456"/>
            <a:ext cx="960120" cy="274320"/>
          </a:xfrm>
          <a:prstGeom prst="rect">
            <a:avLst/>
          </a:prstGeom>
          <a:noFill/>
          <a:ln/>
        </p:spPr>
        <p:txBody>
          <a:bodyPr wrap="square" lIns="0" tIns="0" rIns="0" bIns="0" rtlCol="0" anchor="ctr"/>
          <a:lstStyle/>
          <a:p>
            <a:pPr algn="ctr" indent="0" marL="0">
              <a:buNone/>
            </a:pPr>
            <a:r>
              <a:rPr lang="en-US" sz="1100" b="1" dirty="0">
                <a:solidFill>
                  <a:schemeClr val="accent5"/>
                </a:solidFill>
              </a:rPr>
              <a:t>Built</a:t>
            </a:r>
            <a:endParaRPr lang="en-US" sz="1100" dirty="0"/>
          </a:p>
        </p:txBody>
      </p:sp>
      <p:sp>
        <p:nvSpPr>
          <p:cNvPr id="7" name="Text 5"/>
          <p:cNvSpPr txBox="1"/>
          <p:nvPr/>
        </p:nvSpPr>
        <p:spPr>
          <a:xfrm>
            <a:off x="685800" y="1783080"/>
            <a:ext cx="2148840" cy="822960"/>
          </a:xfrm>
          <a:prstGeom prst="rect">
            <a:avLst/>
          </a:prstGeom>
          <a:noFill/>
          <a:ln/>
        </p:spPr>
        <p:txBody>
          <a:bodyPr wrap="square" lIns="0" tIns="0" rIns="0" bIns="0" rtlCol="0" anchor="t"/>
          <a:lstStyle/>
          <a:p>
            <a:pPr indent="0" marL="0">
              <a:buNone/>
            </a:pPr>
            <a:r>
              <a:rPr lang="en-US" sz="1300" dirty="0">
                <a:solidFill>
                  <a:srgbClr val="3B4A47"/>
                </a:solidFill>
              </a:rPr>
              <a:t>Import drops columns we don't need. Notes refuse ID numbers.</a:t>
            </a:r>
            <a:endParaRPr lang="en-US" sz="1300" dirty="0"/>
          </a:p>
        </p:txBody>
      </p:sp>
      <p:sp>
        <p:nvSpPr>
          <p:cNvPr id="8" name="Restrict card"/>
          <p:cNvSpPr/>
          <p:nvPr/>
        </p:nvSpPr>
        <p:spPr>
          <a:xfrm>
            <a:off x="3291840" y="1143000"/>
            <a:ext cx="2560320" cy="1554480"/>
          </a:xfrm>
          <a:prstGeom prst="roundRect">
            <a:avLst>
              <a:gd name="adj" fmla="val 4706"/>
            </a:avLst>
          </a:prstGeom>
          <a:solidFill>
            <a:schemeClr val="bg2"/>
          </a:solidFill>
          <a:ln/>
        </p:spPr>
      </p:sp>
      <p:sp>
        <p:nvSpPr>
          <p:cNvPr id="9" name="Text 7"/>
          <p:cNvSpPr txBox="1"/>
          <p:nvPr/>
        </p:nvSpPr>
        <p:spPr>
          <a:xfrm>
            <a:off x="3520440" y="1344168"/>
            <a:ext cx="1280160" cy="320040"/>
          </a:xfrm>
          <a:prstGeom prst="rect">
            <a:avLst/>
          </a:prstGeom>
          <a:noFill/>
          <a:ln/>
        </p:spPr>
        <p:txBody>
          <a:bodyPr wrap="square" lIns="0" tIns="0" rIns="0" bIns="0" rtlCol="0" anchor="t"/>
          <a:lstStyle/>
          <a:p>
            <a:pPr indent="0" marL="0">
              <a:buNone/>
            </a:pPr>
            <a:r>
              <a:rPr lang="en-US" sz="1700" b="1" dirty="0">
                <a:solidFill>
                  <a:schemeClr val="tx1"/>
                </a:solidFill>
              </a:rPr>
              <a:t>Restrict</a:t>
            </a:r>
            <a:endParaRPr lang="en-US" sz="1700" dirty="0"/>
          </a:p>
        </p:txBody>
      </p:sp>
      <p:sp>
        <p:nvSpPr>
          <p:cNvPr id="10" name="Restrict status pill"/>
          <p:cNvSpPr/>
          <p:nvPr/>
        </p:nvSpPr>
        <p:spPr>
          <a:xfrm>
            <a:off x="4709160" y="1362456"/>
            <a:ext cx="960120" cy="274320"/>
          </a:xfrm>
          <a:prstGeom prst="roundRect">
            <a:avLst>
              <a:gd name="adj" fmla="val 50000"/>
            </a:avLst>
          </a:prstGeom>
          <a:solidFill>
            <a:srgbClr val="E1F3E8"/>
          </a:solidFill>
          <a:ln/>
        </p:spPr>
      </p:sp>
      <p:sp>
        <p:nvSpPr>
          <p:cNvPr id="11" name="Text 9"/>
          <p:cNvSpPr txBox="1"/>
          <p:nvPr/>
        </p:nvSpPr>
        <p:spPr>
          <a:xfrm>
            <a:off x="4709160" y="1362456"/>
            <a:ext cx="960120" cy="274320"/>
          </a:xfrm>
          <a:prstGeom prst="rect">
            <a:avLst/>
          </a:prstGeom>
          <a:noFill/>
          <a:ln/>
        </p:spPr>
        <p:txBody>
          <a:bodyPr wrap="square" lIns="0" tIns="0" rIns="0" bIns="0" rtlCol="0" anchor="ctr"/>
          <a:lstStyle/>
          <a:p>
            <a:pPr algn="ctr" indent="0" marL="0">
              <a:buNone/>
            </a:pPr>
            <a:r>
              <a:rPr lang="en-US" sz="1100" b="1" dirty="0">
                <a:solidFill>
                  <a:schemeClr val="accent5"/>
                </a:solidFill>
              </a:rPr>
              <a:t>Built</a:t>
            </a:r>
            <a:endParaRPr lang="en-US" sz="1100" dirty="0"/>
          </a:p>
        </p:txBody>
      </p:sp>
      <p:sp>
        <p:nvSpPr>
          <p:cNvPr id="12" name="Text 10"/>
          <p:cNvSpPr txBox="1"/>
          <p:nvPr/>
        </p:nvSpPr>
        <p:spPr>
          <a:xfrm>
            <a:off x="3520440" y="1783080"/>
            <a:ext cx="2148840" cy="822960"/>
          </a:xfrm>
          <a:prstGeom prst="rect">
            <a:avLst/>
          </a:prstGeom>
          <a:noFill/>
          <a:ln/>
        </p:spPr>
        <p:txBody>
          <a:bodyPr wrap="square" lIns="0" tIns="0" rIns="0" bIns="0" rtlCol="0" anchor="t"/>
          <a:lstStyle/>
          <a:p>
            <a:pPr indent="0" marL="0">
              <a:buNone/>
            </a:pPr>
            <a:r>
              <a:rPr lang="en-US" sz="1300" dirty="0">
                <a:solidFill>
                  <a:srgbClr val="3B4A47"/>
                </a:solidFill>
              </a:rPr>
              <a:t>Each role sees only what its work needs. IDs masked by default.</a:t>
            </a:r>
            <a:endParaRPr lang="en-US" sz="1300" dirty="0"/>
          </a:p>
        </p:txBody>
      </p:sp>
      <p:sp>
        <p:nvSpPr>
          <p:cNvPr id="13" name="Protect card"/>
          <p:cNvSpPr/>
          <p:nvPr/>
        </p:nvSpPr>
        <p:spPr>
          <a:xfrm>
            <a:off x="6126480" y="1143000"/>
            <a:ext cx="2560320" cy="1554480"/>
          </a:xfrm>
          <a:prstGeom prst="roundRect">
            <a:avLst>
              <a:gd name="adj" fmla="val 4706"/>
            </a:avLst>
          </a:prstGeom>
          <a:solidFill>
            <a:schemeClr val="bg2"/>
          </a:solidFill>
          <a:ln/>
        </p:spPr>
      </p:sp>
      <p:sp>
        <p:nvSpPr>
          <p:cNvPr id="14" name="Text 12"/>
          <p:cNvSpPr txBox="1"/>
          <p:nvPr/>
        </p:nvSpPr>
        <p:spPr>
          <a:xfrm>
            <a:off x="6355080" y="1344168"/>
            <a:ext cx="1280160" cy="320040"/>
          </a:xfrm>
          <a:prstGeom prst="rect">
            <a:avLst/>
          </a:prstGeom>
          <a:noFill/>
          <a:ln/>
        </p:spPr>
        <p:txBody>
          <a:bodyPr wrap="square" lIns="0" tIns="0" rIns="0" bIns="0" rtlCol="0" anchor="t"/>
          <a:lstStyle/>
          <a:p>
            <a:pPr indent="0" marL="0">
              <a:buNone/>
            </a:pPr>
            <a:r>
              <a:rPr lang="en-US" sz="1700" b="1" dirty="0">
                <a:solidFill>
                  <a:schemeClr val="tx1"/>
                </a:solidFill>
              </a:rPr>
              <a:t>Protect</a:t>
            </a:r>
            <a:endParaRPr lang="en-US" sz="1700" dirty="0"/>
          </a:p>
        </p:txBody>
      </p:sp>
      <p:sp>
        <p:nvSpPr>
          <p:cNvPr id="15" name="Protect status pill"/>
          <p:cNvSpPr/>
          <p:nvPr/>
        </p:nvSpPr>
        <p:spPr>
          <a:xfrm>
            <a:off x="7543800" y="1362456"/>
            <a:ext cx="960120" cy="274320"/>
          </a:xfrm>
          <a:prstGeom prst="roundRect">
            <a:avLst>
              <a:gd name="adj" fmla="val 50000"/>
            </a:avLst>
          </a:prstGeom>
          <a:solidFill>
            <a:srgbClr val="E1F3E8"/>
          </a:solidFill>
          <a:ln/>
        </p:spPr>
      </p:sp>
      <p:sp>
        <p:nvSpPr>
          <p:cNvPr id="16" name="Text 14"/>
          <p:cNvSpPr txBox="1"/>
          <p:nvPr/>
        </p:nvSpPr>
        <p:spPr>
          <a:xfrm>
            <a:off x="7543800" y="1362456"/>
            <a:ext cx="960120" cy="274320"/>
          </a:xfrm>
          <a:prstGeom prst="rect">
            <a:avLst/>
          </a:prstGeom>
          <a:noFill/>
          <a:ln/>
        </p:spPr>
        <p:txBody>
          <a:bodyPr wrap="square" lIns="0" tIns="0" rIns="0" bIns="0" rtlCol="0" anchor="ctr"/>
          <a:lstStyle/>
          <a:p>
            <a:pPr algn="ctr" indent="0" marL="0">
              <a:buNone/>
            </a:pPr>
            <a:r>
              <a:rPr lang="en-US" sz="1100" b="1" dirty="0">
                <a:solidFill>
                  <a:schemeClr val="accent5"/>
                </a:solidFill>
              </a:rPr>
              <a:t>Built</a:t>
            </a:r>
            <a:endParaRPr lang="en-US" sz="1100" dirty="0"/>
          </a:p>
        </p:txBody>
      </p:sp>
      <p:sp>
        <p:nvSpPr>
          <p:cNvPr id="17" name="Text 15"/>
          <p:cNvSpPr txBox="1"/>
          <p:nvPr/>
        </p:nvSpPr>
        <p:spPr>
          <a:xfrm>
            <a:off x="6355080" y="1783080"/>
            <a:ext cx="2148840" cy="822960"/>
          </a:xfrm>
          <a:prstGeom prst="rect">
            <a:avLst/>
          </a:prstGeom>
          <a:noFill/>
          <a:ln/>
        </p:spPr>
        <p:txBody>
          <a:bodyPr wrap="square" lIns="0" tIns="0" rIns="0" bIns="0" rtlCol="0" anchor="t"/>
          <a:lstStyle/>
          <a:p>
            <a:pPr indent="0" marL="0">
              <a:buNone/>
            </a:pPr>
            <a:r>
              <a:rPr lang="en-US" sz="1300" dirty="0">
                <a:solidFill>
                  <a:srgbClr val="3B4A47"/>
                </a:solidFill>
              </a:rPr>
              <a:t>Rules enforced in the database, not just hidden on screen.</a:t>
            </a:r>
            <a:endParaRPr lang="en-US" sz="1300" dirty="0"/>
          </a:p>
        </p:txBody>
      </p:sp>
      <p:sp>
        <p:nvSpPr>
          <p:cNvPr id="18" name="Trace card"/>
          <p:cNvSpPr/>
          <p:nvPr/>
        </p:nvSpPr>
        <p:spPr>
          <a:xfrm>
            <a:off x="457200" y="2880360"/>
            <a:ext cx="2560320" cy="1554480"/>
          </a:xfrm>
          <a:prstGeom prst="roundRect">
            <a:avLst>
              <a:gd name="adj" fmla="val 4706"/>
            </a:avLst>
          </a:prstGeom>
          <a:solidFill>
            <a:schemeClr val="bg2"/>
          </a:solidFill>
          <a:ln/>
        </p:spPr>
      </p:sp>
      <p:sp>
        <p:nvSpPr>
          <p:cNvPr id="19" name="Text 17"/>
          <p:cNvSpPr txBox="1"/>
          <p:nvPr/>
        </p:nvSpPr>
        <p:spPr>
          <a:xfrm>
            <a:off x="685800" y="3081528"/>
            <a:ext cx="1280160" cy="320040"/>
          </a:xfrm>
          <a:prstGeom prst="rect">
            <a:avLst/>
          </a:prstGeom>
          <a:noFill/>
          <a:ln/>
        </p:spPr>
        <p:txBody>
          <a:bodyPr wrap="square" lIns="0" tIns="0" rIns="0" bIns="0" rtlCol="0" anchor="t"/>
          <a:lstStyle/>
          <a:p>
            <a:pPr indent="0" marL="0">
              <a:buNone/>
            </a:pPr>
            <a:r>
              <a:rPr lang="en-US" sz="1700" b="1" dirty="0">
                <a:solidFill>
                  <a:schemeClr val="tx1"/>
                </a:solidFill>
              </a:rPr>
              <a:t>Trace</a:t>
            </a:r>
            <a:endParaRPr lang="en-US" sz="1700" dirty="0"/>
          </a:p>
        </p:txBody>
      </p:sp>
      <p:sp>
        <p:nvSpPr>
          <p:cNvPr id="20" name="Trace status pill"/>
          <p:cNvSpPr/>
          <p:nvPr/>
        </p:nvSpPr>
        <p:spPr>
          <a:xfrm>
            <a:off x="1874520" y="3099816"/>
            <a:ext cx="960120" cy="274320"/>
          </a:xfrm>
          <a:prstGeom prst="roundRect">
            <a:avLst>
              <a:gd name="adj" fmla="val 50000"/>
            </a:avLst>
          </a:prstGeom>
          <a:solidFill>
            <a:srgbClr val="E1F3E8"/>
          </a:solidFill>
          <a:ln/>
        </p:spPr>
      </p:sp>
      <p:sp>
        <p:nvSpPr>
          <p:cNvPr id="21" name="Text 19"/>
          <p:cNvSpPr txBox="1"/>
          <p:nvPr/>
        </p:nvSpPr>
        <p:spPr>
          <a:xfrm>
            <a:off x="1874520" y="3099816"/>
            <a:ext cx="960120" cy="274320"/>
          </a:xfrm>
          <a:prstGeom prst="rect">
            <a:avLst/>
          </a:prstGeom>
          <a:noFill/>
          <a:ln/>
        </p:spPr>
        <p:txBody>
          <a:bodyPr wrap="square" lIns="0" tIns="0" rIns="0" bIns="0" rtlCol="0" anchor="ctr"/>
          <a:lstStyle/>
          <a:p>
            <a:pPr algn="ctr" indent="0" marL="0">
              <a:buNone/>
            </a:pPr>
            <a:r>
              <a:rPr lang="en-US" sz="1100" b="1" dirty="0">
                <a:solidFill>
                  <a:schemeClr val="accent5"/>
                </a:solidFill>
              </a:rPr>
              <a:t>Built</a:t>
            </a:r>
            <a:endParaRPr lang="en-US" sz="1100" dirty="0"/>
          </a:p>
        </p:txBody>
      </p:sp>
      <p:sp>
        <p:nvSpPr>
          <p:cNvPr id="22" name="Text 20"/>
          <p:cNvSpPr txBox="1"/>
          <p:nvPr/>
        </p:nvSpPr>
        <p:spPr>
          <a:xfrm>
            <a:off x="685800" y="3520440"/>
            <a:ext cx="2148840" cy="822960"/>
          </a:xfrm>
          <a:prstGeom prst="rect">
            <a:avLst/>
          </a:prstGeom>
          <a:noFill/>
          <a:ln/>
        </p:spPr>
        <p:txBody>
          <a:bodyPr wrap="square" lIns="0" tIns="0" rIns="0" bIns="0" rtlCol="0" anchor="t"/>
          <a:lstStyle/>
          <a:p>
            <a:pPr indent="0" marL="0">
              <a:buNone/>
            </a:pPr>
            <a:r>
              <a:rPr lang="en-US" sz="1300" dirty="0">
                <a:solidFill>
                  <a:srgbClr val="3B4A47"/>
                </a:solidFill>
              </a:rPr>
              <a:t>Every view, reveal, change, import and export is logged.</a:t>
            </a:r>
            <a:endParaRPr lang="en-US" sz="1300" dirty="0"/>
          </a:p>
        </p:txBody>
      </p:sp>
      <p:sp>
        <p:nvSpPr>
          <p:cNvPr id="23" name="Govern card"/>
          <p:cNvSpPr/>
          <p:nvPr/>
        </p:nvSpPr>
        <p:spPr>
          <a:xfrm>
            <a:off x="3291840" y="2880360"/>
            <a:ext cx="2560320" cy="1554480"/>
          </a:xfrm>
          <a:prstGeom prst="roundRect">
            <a:avLst>
              <a:gd name="adj" fmla="val 4706"/>
            </a:avLst>
          </a:prstGeom>
          <a:solidFill>
            <a:schemeClr val="bg2"/>
          </a:solidFill>
          <a:ln/>
        </p:spPr>
      </p:sp>
      <p:sp>
        <p:nvSpPr>
          <p:cNvPr id="24" name="Text 22"/>
          <p:cNvSpPr txBox="1"/>
          <p:nvPr/>
        </p:nvSpPr>
        <p:spPr>
          <a:xfrm>
            <a:off x="3520440" y="3081528"/>
            <a:ext cx="1280160" cy="320040"/>
          </a:xfrm>
          <a:prstGeom prst="rect">
            <a:avLst/>
          </a:prstGeom>
          <a:noFill/>
          <a:ln/>
        </p:spPr>
        <p:txBody>
          <a:bodyPr wrap="square" lIns="0" tIns="0" rIns="0" bIns="0" rtlCol="0" anchor="t"/>
          <a:lstStyle/>
          <a:p>
            <a:pPr indent="0" marL="0">
              <a:buNone/>
            </a:pPr>
            <a:r>
              <a:rPr lang="en-US" sz="1700" b="1" dirty="0">
                <a:solidFill>
                  <a:schemeClr val="tx1"/>
                </a:solidFill>
              </a:rPr>
              <a:t>Govern</a:t>
            </a:r>
            <a:endParaRPr lang="en-US" sz="1700" dirty="0"/>
          </a:p>
        </p:txBody>
      </p:sp>
      <p:sp>
        <p:nvSpPr>
          <p:cNvPr id="25" name="Govern status pill"/>
          <p:cNvSpPr/>
          <p:nvPr/>
        </p:nvSpPr>
        <p:spPr>
          <a:xfrm>
            <a:off x="4709160" y="3099816"/>
            <a:ext cx="960120" cy="274320"/>
          </a:xfrm>
          <a:prstGeom prst="roundRect">
            <a:avLst>
              <a:gd name="adj" fmla="val 50000"/>
            </a:avLst>
          </a:prstGeom>
          <a:solidFill>
            <a:srgbClr val="FBEFD9"/>
          </a:solidFill>
          <a:ln/>
        </p:spPr>
      </p:sp>
      <p:sp>
        <p:nvSpPr>
          <p:cNvPr id="26" name="Text 24"/>
          <p:cNvSpPr txBox="1"/>
          <p:nvPr/>
        </p:nvSpPr>
        <p:spPr>
          <a:xfrm>
            <a:off x="4709160" y="3099816"/>
            <a:ext cx="960120" cy="274320"/>
          </a:xfrm>
          <a:prstGeom prst="rect">
            <a:avLst/>
          </a:prstGeom>
          <a:noFill/>
          <a:ln/>
        </p:spPr>
        <p:txBody>
          <a:bodyPr wrap="square" lIns="0" tIns="0" rIns="0" bIns="0" rtlCol="0" anchor="ctr"/>
          <a:lstStyle/>
          <a:p>
            <a:pPr algn="ctr" indent="0" marL="0">
              <a:buNone/>
            </a:pPr>
            <a:r>
              <a:rPr lang="en-US" sz="1100" b="1" dirty="0">
                <a:solidFill>
                  <a:schemeClr val="accent3"/>
                </a:solidFill>
              </a:rPr>
              <a:t>With client</a:t>
            </a:r>
            <a:endParaRPr lang="en-US" sz="1100" dirty="0"/>
          </a:p>
        </p:txBody>
      </p:sp>
      <p:sp>
        <p:nvSpPr>
          <p:cNvPr id="27" name="Text 25"/>
          <p:cNvSpPr txBox="1"/>
          <p:nvPr/>
        </p:nvSpPr>
        <p:spPr>
          <a:xfrm>
            <a:off x="3520440" y="3520440"/>
            <a:ext cx="2148840" cy="822960"/>
          </a:xfrm>
          <a:prstGeom prst="rect">
            <a:avLst/>
          </a:prstGeom>
          <a:noFill/>
          <a:ln/>
        </p:spPr>
        <p:txBody>
          <a:bodyPr wrap="square" lIns="0" tIns="0" rIns="0" bIns="0" rtlCol="0" anchor="t"/>
          <a:lstStyle/>
          <a:p>
            <a:pPr indent="0" marL="0">
              <a:buNone/>
            </a:pPr>
            <a:r>
              <a:rPr lang="en-US" sz="1300" dirty="0">
                <a:solidFill>
                  <a:srgbClr val="3B4A47"/>
                </a:solidFill>
              </a:rPr>
              <a:t>Retention periods, correction requests, breach response.</a:t>
            </a:r>
            <a:endParaRPr lang="en-US" sz="1300" dirty="0"/>
          </a:p>
        </p:txBody>
      </p:sp>
      <p:sp>
        <p:nvSpPr>
          <p:cNvPr id="28" name="Validate card"/>
          <p:cNvSpPr/>
          <p:nvPr/>
        </p:nvSpPr>
        <p:spPr>
          <a:xfrm>
            <a:off x="6126480" y="2880360"/>
            <a:ext cx="2560320" cy="1554480"/>
          </a:xfrm>
          <a:prstGeom prst="roundRect">
            <a:avLst>
              <a:gd name="adj" fmla="val 4706"/>
            </a:avLst>
          </a:prstGeom>
          <a:solidFill>
            <a:schemeClr val="bg2"/>
          </a:solidFill>
          <a:ln/>
        </p:spPr>
      </p:sp>
      <p:sp>
        <p:nvSpPr>
          <p:cNvPr id="29" name="Text 27"/>
          <p:cNvSpPr txBox="1"/>
          <p:nvPr/>
        </p:nvSpPr>
        <p:spPr>
          <a:xfrm>
            <a:off x="6355080" y="3081528"/>
            <a:ext cx="1280160" cy="320040"/>
          </a:xfrm>
          <a:prstGeom prst="rect">
            <a:avLst/>
          </a:prstGeom>
          <a:noFill/>
          <a:ln/>
        </p:spPr>
        <p:txBody>
          <a:bodyPr wrap="square" lIns="0" tIns="0" rIns="0" bIns="0" rtlCol="0" anchor="t"/>
          <a:lstStyle/>
          <a:p>
            <a:pPr indent="0" marL="0">
              <a:buNone/>
            </a:pPr>
            <a:r>
              <a:rPr lang="en-US" sz="1700" b="1" dirty="0">
                <a:solidFill>
                  <a:schemeClr val="tx1"/>
                </a:solidFill>
              </a:rPr>
              <a:t>Validate</a:t>
            </a:r>
            <a:endParaRPr lang="en-US" sz="1700" dirty="0"/>
          </a:p>
        </p:txBody>
      </p:sp>
      <p:sp>
        <p:nvSpPr>
          <p:cNvPr id="30" name="Validate status pill"/>
          <p:cNvSpPr/>
          <p:nvPr/>
        </p:nvSpPr>
        <p:spPr>
          <a:xfrm>
            <a:off x="7543800" y="3099816"/>
            <a:ext cx="960120" cy="274320"/>
          </a:xfrm>
          <a:prstGeom prst="roundRect">
            <a:avLst>
              <a:gd name="adj" fmla="val 50000"/>
            </a:avLst>
          </a:prstGeom>
          <a:solidFill>
            <a:srgbClr val="FBEFD9"/>
          </a:solidFill>
          <a:ln/>
        </p:spPr>
      </p:sp>
      <p:sp>
        <p:nvSpPr>
          <p:cNvPr id="31" name="Text 29"/>
          <p:cNvSpPr txBox="1"/>
          <p:nvPr/>
        </p:nvSpPr>
        <p:spPr>
          <a:xfrm>
            <a:off x="7543800" y="3099816"/>
            <a:ext cx="960120" cy="274320"/>
          </a:xfrm>
          <a:prstGeom prst="rect">
            <a:avLst/>
          </a:prstGeom>
          <a:noFill/>
          <a:ln/>
        </p:spPr>
        <p:txBody>
          <a:bodyPr wrap="square" lIns="0" tIns="0" rIns="0" bIns="0" rtlCol="0" anchor="ctr"/>
          <a:lstStyle/>
          <a:p>
            <a:pPr algn="ctr" indent="0" marL="0">
              <a:buNone/>
            </a:pPr>
            <a:r>
              <a:rPr lang="en-US" sz="1100" b="1" dirty="0">
                <a:solidFill>
                  <a:schemeClr val="accent3"/>
                </a:solidFill>
              </a:rPr>
              <a:t>With client</a:t>
            </a:r>
            <a:endParaRPr lang="en-US" sz="1100" dirty="0"/>
          </a:p>
        </p:txBody>
      </p:sp>
      <p:sp>
        <p:nvSpPr>
          <p:cNvPr id="32" name="Text 30"/>
          <p:cNvSpPr txBox="1"/>
          <p:nvPr/>
        </p:nvSpPr>
        <p:spPr>
          <a:xfrm>
            <a:off x="6355080" y="3520440"/>
            <a:ext cx="2148840" cy="822960"/>
          </a:xfrm>
          <a:prstGeom prst="rect">
            <a:avLst/>
          </a:prstGeom>
          <a:noFill/>
          <a:ln/>
        </p:spPr>
        <p:txBody>
          <a:bodyPr wrap="square" lIns="0" tIns="0" rIns="0" bIns="0" rtlCol="0" anchor="t"/>
          <a:lstStyle/>
          <a:p>
            <a:pPr indent="0" marL="0">
              <a:buNone/>
            </a:pPr>
            <a:r>
              <a:rPr lang="en-US" sz="1300" dirty="0">
                <a:solidFill>
                  <a:srgbClr val="3B4A47"/>
                </a:solidFill>
              </a:rPr>
              <a:t>Lawful basis, hosting region and sign-off by the information officer.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How it's built</a:t>
            </a:r>
            <a:endParaRPr lang="en-US" sz="3200" dirty="0"/>
          </a:p>
        </p:txBody>
      </p:sp>
      <p:sp>
        <p:nvSpPr>
          <p:cNvPr id="3" name="Browser box"/>
          <p:cNvSpPr/>
          <p:nvPr/>
        </p:nvSpPr>
        <p:spPr>
          <a:xfrm>
            <a:off x="457200" y="1188720"/>
            <a:ext cx="1783080" cy="2148840"/>
          </a:xfrm>
          <a:prstGeom prst="roundRect">
            <a:avLst>
              <a:gd name="adj" fmla="val 4103"/>
            </a:avLst>
          </a:prstGeom>
          <a:solidFill>
            <a:schemeClr val="bg2"/>
          </a:solidFill>
          <a:ln/>
        </p:spPr>
      </p:sp>
      <p:sp>
        <p:nvSpPr>
          <p:cNvPr id="4" name="Browser circle"/>
          <p:cNvSpPr/>
          <p:nvPr/>
        </p:nvSpPr>
        <p:spPr>
          <a:xfrm>
            <a:off x="685800" y="1371600"/>
            <a:ext cx="502920" cy="502920"/>
          </a:xfrm>
          <a:prstGeom prst="ellipse">
            <a:avLst/>
          </a:prstGeom>
          <a:solidFill>
            <a:schemeClr val="accent1"/>
          </a:solidFill>
          <a:ln/>
        </p:spPr>
      </p:sp>
      <p:pic>
        <p:nvPicPr>
          <p:cNvPr id="5" name="Browser glyph" descr="preencoded.png">    </p:cNvPr>
          <p:cNvPicPr>
            <a:picLocks noChangeAspect="1"/>
          </p:cNvPicPr>
          <p:nvPr/>
        </p:nvPicPr>
        <p:blipFill>
          <a:blip r:embed="rId1"/>
          <a:stretch>
            <a:fillRect/>
          </a:stretch>
        </p:blipFill>
        <p:spPr>
          <a:xfrm>
            <a:off x="811530" y="1497330"/>
            <a:ext cx="251460" cy="251460"/>
          </a:xfrm>
          <a:prstGeom prst="rect">
            <a:avLst/>
          </a:prstGeom>
        </p:spPr>
      </p:pic>
      <p:sp>
        <p:nvSpPr>
          <p:cNvPr id="6" name="Text 3"/>
          <p:cNvSpPr txBox="1"/>
          <p:nvPr/>
        </p:nvSpPr>
        <p:spPr>
          <a:xfrm>
            <a:off x="685800" y="1993392"/>
            <a:ext cx="1417320" cy="320040"/>
          </a:xfrm>
          <a:prstGeom prst="rect">
            <a:avLst/>
          </a:prstGeom>
          <a:noFill/>
          <a:ln/>
        </p:spPr>
        <p:txBody>
          <a:bodyPr wrap="square" lIns="0" tIns="0" rIns="0" bIns="0" rtlCol="0" anchor="t"/>
          <a:lstStyle/>
          <a:p>
            <a:pPr indent="0" marL="0">
              <a:buNone/>
            </a:pPr>
            <a:r>
              <a:rPr lang="en-US" sz="1500" b="1" dirty="0">
                <a:solidFill>
                  <a:schemeClr val="tx1"/>
                </a:solidFill>
              </a:rPr>
              <a:t>Browser</a:t>
            </a:r>
            <a:endParaRPr lang="en-US" sz="1500" dirty="0"/>
          </a:p>
        </p:txBody>
      </p:sp>
      <p:sp>
        <p:nvSpPr>
          <p:cNvPr id="7" name="Text 4"/>
          <p:cNvSpPr txBox="1"/>
          <p:nvPr/>
        </p:nvSpPr>
        <p:spPr>
          <a:xfrm>
            <a:off x="685800" y="2331720"/>
            <a:ext cx="1417320" cy="960120"/>
          </a:xfrm>
          <a:prstGeom prst="rect">
            <a:avLst/>
          </a:prstGeom>
          <a:noFill/>
          <a:ln/>
        </p:spPr>
        <p:txBody>
          <a:bodyPr wrap="square" lIns="0" tIns="0" rIns="0" bIns="0" rtlCol="0" anchor="t"/>
          <a:lstStyle/>
          <a:p>
            <a:pPr indent="0" marL="0">
              <a:buNone/>
            </a:pPr>
            <a:r>
              <a:rPr lang="en-US" sz="1200" dirty="0">
                <a:solidFill>
                  <a:srgbClr val="3B4A47"/>
                </a:solidFill>
              </a:rPr>
              <a:t>React and TypeScript, hosted on Vercel. Shows only what it is given.</a:t>
            </a:r>
            <a:endParaRPr lang="en-US" sz="1200" dirty="0"/>
          </a:p>
        </p:txBody>
      </p:sp>
      <p:sp>
        <p:nvSpPr>
          <p:cNvPr id="8" name="flow arrow 1"/>
          <p:cNvSpPr/>
          <p:nvPr/>
        </p:nvSpPr>
        <p:spPr>
          <a:xfrm>
            <a:off x="2286000" y="2263140"/>
            <a:ext cx="274320" cy="0"/>
          </a:xfrm>
          <a:prstGeom prst="line">
            <a:avLst/>
          </a:prstGeom>
          <a:noFill/>
          <a:ln w="22225">
            <a:solidFill>
              <a:srgbClr val="0D6A5B"/>
            </a:solidFill>
            <a:prstDash val="solid"/>
            <a:tailEnd type="triangle"/>
          </a:ln>
        </p:spPr>
      </p:sp>
      <p:sp>
        <p:nvSpPr>
          <p:cNvPr id="9" name="Sign-in box"/>
          <p:cNvSpPr/>
          <p:nvPr/>
        </p:nvSpPr>
        <p:spPr>
          <a:xfrm>
            <a:off x="2606040" y="1188720"/>
            <a:ext cx="1783080" cy="2148840"/>
          </a:xfrm>
          <a:prstGeom prst="roundRect">
            <a:avLst>
              <a:gd name="adj" fmla="val 4103"/>
            </a:avLst>
          </a:prstGeom>
          <a:solidFill>
            <a:schemeClr val="bg2"/>
          </a:solidFill>
          <a:ln/>
        </p:spPr>
      </p:sp>
      <p:sp>
        <p:nvSpPr>
          <p:cNvPr id="10" name="Sign-in circle"/>
          <p:cNvSpPr/>
          <p:nvPr/>
        </p:nvSpPr>
        <p:spPr>
          <a:xfrm>
            <a:off x="2834640" y="1371600"/>
            <a:ext cx="502920" cy="502920"/>
          </a:xfrm>
          <a:prstGeom prst="ellipse">
            <a:avLst/>
          </a:prstGeom>
          <a:solidFill>
            <a:schemeClr val="accent1"/>
          </a:solidFill>
          <a:ln/>
        </p:spPr>
      </p:sp>
      <p:pic>
        <p:nvPicPr>
          <p:cNvPr id="11" name="Sign-in glyph" descr="preencoded.png">    </p:cNvPr>
          <p:cNvPicPr>
            <a:picLocks noChangeAspect="1"/>
          </p:cNvPicPr>
          <p:nvPr/>
        </p:nvPicPr>
        <p:blipFill>
          <a:blip r:embed="rId2"/>
          <a:stretch>
            <a:fillRect/>
          </a:stretch>
        </p:blipFill>
        <p:spPr>
          <a:xfrm>
            <a:off x="2960370" y="1497330"/>
            <a:ext cx="251460" cy="251460"/>
          </a:xfrm>
          <a:prstGeom prst="rect">
            <a:avLst/>
          </a:prstGeom>
        </p:spPr>
      </p:pic>
      <p:sp>
        <p:nvSpPr>
          <p:cNvPr id="12" name="Text 8"/>
          <p:cNvSpPr txBox="1"/>
          <p:nvPr/>
        </p:nvSpPr>
        <p:spPr>
          <a:xfrm>
            <a:off x="2834640" y="1993392"/>
            <a:ext cx="1417320" cy="320040"/>
          </a:xfrm>
          <a:prstGeom prst="rect">
            <a:avLst/>
          </a:prstGeom>
          <a:noFill/>
          <a:ln/>
        </p:spPr>
        <p:txBody>
          <a:bodyPr wrap="square" lIns="0" tIns="0" rIns="0" bIns="0" rtlCol="0" anchor="t"/>
          <a:lstStyle/>
          <a:p>
            <a:pPr indent="0" marL="0">
              <a:buNone/>
            </a:pPr>
            <a:r>
              <a:rPr lang="en-US" sz="1500" b="1" dirty="0">
                <a:solidFill>
                  <a:schemeClr val="tx1"/>
                </a:solidFill>
              </a:rPr>
              <a:t>Sign-in</a:t>
            </a:r>
            <a:endParaRPr lang="en-US" sz="1500" dirty="0"/>
          </a:p>
        </p:txBody>
      </p:sp>
      <p:sp>
        <p:nvSpPr>
          <p:cNvPr id="13" name="Text 9"/>
          <p:cNvSpPr txBox="1"/>
          <p:nvPr/>
        </p:nvSpPr>
        <p:spPr>
          <a:xfrm>
            <a:off x="2834640" y="2331720"/>
            <a:ext cx="1417320" cy="960120"/>
          </a:xfrm>
          <a:prstGeom prst="rect">
            <a:avLst/>
          </a:prstGeom>
          <a:noFill/>
          <a:ln/>
        </p:spPr>
        <p:txBody>
          <a:bodyPr wrap="square" lIns="0" tIns="0" rIns="0" bIns="0" rtlCol="0" anchor="t"/>
          <a:lstStyle/>
          <a:p>
            <a:pPr indent="0" marL="0">
              <a:buNone/>
            </a:pPr>
            <a:r>
              <a:rPr lang="en-US" sz="1200" dirty="0">
                <a:solidFill>
                  <a:srgbClr val="3B4A47"/>
                </a:solidFill>
              </a:rPr>
              <a:t>Supabase Auth. Every staff member has their own account and role.</a:t>
            </a:r>
            <a:endParaRPr lang="en-US" sz="1200" dirty="0"/>
          </a:p>
        </p:txBody>
      </p:sp>
      <p:sp>
        <p:nvSpPr>
          <p:cNvPr id="14" name="flow arrow 2"/>
          <p:cNvSpPr/>
          <p:nvPr/>
        </p:nvSpPr>
        <p:spPr>
          <a:xfrm>
            <a:off x="4434840" y="2263140"/>
            <a:ext cx="274320" cy="0"/>
          </a:xfrm>
          <a:prstGeom prst="line">
            <a:avLst/>
          </a:prstGeom>
          <a:noFill/>
          <a:ln w="22225">
            <a:solidFill>
              <a:srgbClr val="0D6A5B"/>
            </a:solidFill>
            <a:prstDash val="solid"/>
            <a:tailEnd type="triangle"/>
          </a:ln>
        </p:spPr>
      </p:sp>
      <p:sp>
        <p:nvSpPr>
          <p:cNvPr id="15" name="Database rules box"/>
          <p:cNvSpPr/>
          <p:nvPr/>
        </p:nvSpPr>
        <p:spPr>
          <a:xfrm>
            <a:off x="4754880" y="1188720"/>
            <a:ext cx="1783080" cy="2148840"/>
          </a:xfrm>
          <a:prstGeom prst="roundRect">
            <a:avLst>
              <a:gd name="adj" fmla="val 4103"/>
            </a:avLst>
          </a:prstGeom>
          <a:solidFill>
            <a:schemeClr val="bg2"/>
          </a:solidFill>
          <a:ln/>
        </p:spPr>
      </p:sp>
      <p:sp>
        <p:nvSpPr>
          <p:cNvPr id="16" name="Database rules circle"/>
          <p:cNvSpPr/>
          <p:nvPr/>
        </p:nvSpPr>
        <p:spPr>
          <a:xfrm>
            <a:off x="4983480" y="1371600"/>
            <a:ext cx="502920" cy="502920"/>
          </a:xfrm>
          <a:prstGeom prst="ellipse">
            <a:avLst/>
          </a:prstGeom>
          <a:solidFill>
            <a:schemeClr val="accent1"/>
          </a:solidFill>
          <a:ln/>
        </p:spPr>
      </p:sp>
      <p:pic>
        <p:nvPicPr>
          <p:cNvPr id="17" name="Database rules glyph" descr="preencoded.png">    </p:cNvPr>
          <p:cNvPicPr>
            <a:picLocks noChangeAspect="1"/>
          </p:cNvPicPr>
          <p:nvPr/>
        </p:nvPicPr>
        <p:blipFill>
          <a:blip r:embed="rId3"/>
          <a:stretch>
            <a:fillRect/>
          </a:stretch>
        </p:blipFill>
        <p:spPr>
          <a:xfrm>
            <a:off x="5109210" y="1497330"/>
            <a:ext cx="251460" cy="251460"/>
          </a:xfrm>
          <a:prstGeom prst="rect">
            <a:avLst/>
          </a:prstGeom>
        </p:spPr>
      </p:pic>
      <p:sp>
        <p:nvSpPr>
          <p:cNvPr id="18" name="Text 13"/>
          <p:cNvSpPr txBox="1"/>
          <p:nvPr/>
        </p:nvSpPr>
        <p:spPr>
          <a:xfrm>
            <a:off x="4983480" y="1993392"/>
            <a:ext cx="1417320" cy="320040"/>
          </a:xfrm>
          <a:prstGeom prst="rect">
            <a:avLst/>
          </a:prstGeom>
          <a:noFill/>
          <a:ln/>
        </p:spPr>
        <p:txBody>
          <a:bodyPr wrap="square" lIns="0" tIns="0" rIns="0" bIns="0" rtlCol="0" anchor="t"/>
          <a:lstStyle/>
          <a:p>
            <a:pPr indent="0" marL="0">
              <a:buNone/>
            </a:pPr>
            <a:r>
              <a:rPr lang="en-US" sz="1500" b="1" dirty="0">
                <a:solidFill>
                  <a:schemeClr val="tx1"/>
                </a:solidFill>
              </a:rPr>
              <a:t>Database rules</a:t>
            </a:r>
            <a:endParaRPr lang="en-US" sz="1500" dirty="0"/>
          </a:p>
        </p:txBody>
      </p:sp>
      <p:sp>
        <p:nvSpPr>
          <p:cNvPr id="19" name="Text 14"/>
          <p:cNvSpPr txBox="1"/>
          <p:nvPr/>
        </p:nvSpPr>
        <p:spPr>
          <a:xfrm>
            <a:off x="4983480" y="2331720"/>
            <a:ext cx="1417320" cy="960120"/>
          </a:xfrm>
          <a:prstGeom prst="rect">
            <a:avLst/>
          </a:prstGeom>
          <a:noFill/>
          <a:ln/>
        </p:spPr>
        <p:txBody>
          <a:bodyPr wrap="square" lIns="0" tIns="0" rIns="0" bIns="0" rtlCol="0" anchor="t"/>
          <a:lstStyle/>
          <a:p>
            <a:pPr indent="0" marL="0">
              <a:buNone/>
            </a:pPr>
            <a:r>
              <a:rPr lang="en-US" sz="1200" dirty="0">
                <a:solidFill>
                  <a:srgbClr val="3B4A47"/>
                </a:solidFill>
              </a:rPr>
              <a:t>Row Level Security and column permissions decide what each role reads.</a:t>
            </a:r>
            <a:endParaRPr lang="en-US" sz="1200" dirty="0"/>
          </a:p>
        </p:txBody>
      </p:sp>
      <p:sp>
        <p:nvSpPr>
          <p:cNvPr id="20" name="flow arrow 3"/>
          <p:cNvSpPr/>
          <p:nvPr/>
        </p:nvSpPr>
        <p:spPr>
          <a:xfrm>
            <a:off x="6583680" y="2263140"/>
            <a:ext cx="274320" cy="0"/>
          </a:xfrm>
          <a:prstGeom prst="line">
            <a:avLst/>
          </a:prstGeom>
          <a:noFill/>
          <a:ln w="22225">
            <a:solidFill>
              <a:srgbClr val="0D6A5B"/>
            </a:solidFill>
            <a:prstDash val="solid"/>
            <a:tailEnd type="triangle"/>
          </a:ln>
        </p:spPr>
      </p:sp>
      <p:sp>
        <p:nvSpPr>
          <p:cNvPr id="21" name="Functions + log box"/>
          <p:cNvSpPr/>
          <p:nvPr/>
        </p:nvSpPr>
        <p:spPr>
          <a:xfrm>
            <a:off x="6903720" y="1188720"/>
            <a:ext cx="1783080" cy="2148840"/>
          </a:xfrm>
          <a:prstGeom prst="roundRect">
            <a:avLst>
              <a:gd name="adj" fmla="val 4103"/>
            </a:avLst>
          </a:prstGeom>
          <a:solidFill>
            <a:schemeClr val="bg2"/>
          </a:solidFill>
          <a:ln/>
        </p:spPr>
      </p:sp>
      <p:sp>
        <p:nvSpPr>
          <p:cNvPr id="22" name="Functions + log circle"/>
          <p:cNvSpPr/>
          <p:nvPr/>
        </p:nvSpPr>
        <p:spPr>
          <a:xfrm>
            <a:off x="7132320" y="1371600"/>
            <a:ext cx="502920" cy="502920"/>
          </a:xfrm>
          <a:prstGeom prst="ellipse">
            <a:avLst/>
          </a:prstGeom>
          <a:solidFill>
            <a:schemeClr val="accent1"/>
          </a:solidFill>
          <a:ln/>
        </p:spPr>
      </p:sp>
      <p:pic>
        <p:nvPicPr>
          <p:cNvPr id="23" name="Functions + log glyph" descr="preencoded.png">    </p:cNvPr>
          <p:cNvPicPr>
            <a:picLocks noChangeAspect="1"/>
          </p:cNvPicPr>
          <p:nvPr/>
        </p:nvPicPr>
        <p:blipFill>
          <a:blip r:embed="rId4"/>
          <a:stretch>
            <a:fillRect/>
          </a:stretch>
        </p:blipFill>
        <p:spPr>
          <a:xfrm>
            <a:off x="7258050" y="1497330"/>
            <a:ext cx="251460" cy="251460"/>
          </a:xfrm>
          <a:prstGeom prst="rect">
            <a:avLst/>
          </a:prstGeom>
        </p:spPr>
      </p:pic>
      <p:sp>
        <p:nvSpPr>
          <p:cNvPr id="24" name="Text 18"/>
          <p:cNvSpPr txBox="1"/>
          <p:nvPr/>
        </p:nvSpPr>
        <p:spPr>
          <a:xfrm>
            <a:off x="7132320" y="1993392"/>
            <a:ext cx="1417320" cy="320040"/>
          </a:xfrm>
          <a:prstGeom prst="rect">
            <a:avLst/>
          </a:prstGeom>
          <a:noFill/>
          <a:ln/>
        </p:spPr>
        <p:txBody>
          <a:bodyPr wrap="square" lIns="0" tIns="0" rIns="0" bIns="0" rtlCol="0" anchor="t"/>
          <a:lstStyle/>
          <a:p>
            <a:pPr indent="0" marL="0">
              <a:buNone/>
            </a:pPr>
            <a:r>
              <a:rPr lang="en-US" sz="1500" b="1" dirty="0">
                <a:solidFill>
                  <a:schemeClr val="tx1"/>
                </a:solidFill>
              </a:rPr>
              <a:t>Functions + log</a:t>
            </a:r>
            <a:endParaRPr lang="en-US" sz="1500" dirty="0"/>
          </a:p>
        </p:txBody>
      </p:sp>
      <p:sp>
        <p:nvSpPr>
          <p:cNvPr id="25" name="Text 19"/>
          <p:cNvSpPr txBox="1"/>
          <p:nvPr/>
        </p:nvSpPr>
        <p:spPr>
          <a:xfrm>
            <a:off x="7132320" y="2331720"/>
            <a:ext cx="1417320" cy="960120"/>
          </a:xfrm>
          <a:prstGeom prst="rect">
            <a:avLst/>
          </a:prstGeom>
          <a:noFill/>
          <a:ln/>
        </p:spPr>
        <p:txBody>
          <a:bodyPr wrap="square" lIns="0" tIns="0" rIns="0" bIns="0" rtlCol="0" anchor="t"/>
          <a:lstStyle/>
          <a:p>
            <a:pPr indent="0" marL="0">
              <a:buNone/>
            </a:pPr>
            <a:r>
              <a:rPr lang="en-US" sz="1200" dirty="0">
                <a:solidFill>
                  <a:srgbClr val="3B4A47"/>
                </a:solidFill>
              </a:rPr>
              <a:t>Every change runs through a role-checked function that writes the log.</a:t>
            </a:r>
            <a:endParaRPr lang="en-US" sz="1200" dirty="0"/>
          </a:p>
        </p:txBody>
      </p:sp>
      <p:sp>
        <p:nvSpPr>
          <p:cNvPr id="26" name="architecture callout"/>
          <p:cNvSpPr/>
          <p:nvPr/>
        </p:nvSpPr>
        <p:spPr>
          <a:xfrm>
            <a:off x="457200" y="3611880"/>
            <a:ext cx="8229600" cy="868680"/>
          </a:xfrm>
          <a:prstGeom prst="roundRect">
            <a:avLst>
              <a:gd name="adj" fmla="val 8421"/>
            </a:avLst>
          </a:prstGeom>
          <a:solidFill>
            <a:srgbClr val="DFF0EB"/>
          </a:solidFill>
          <a:ln/>
        </p:spPr>
      </p:sp>
      <p:sp>
        <p:nvSpPr>
          <p:cNvPr id="27" name="lock circle"/>
          <p:cNvSpPr/>
          <p:nvPr/>
        </p:nvSpPr>
        <p:spPr>
          <a:xfrm>
            <a:off x="685800" y="3794760"/>
            <a:ext cx="502920" cy="502920"/>
          </a:xfrm>
          <a:prstGeom prst="ellipse">
            <a:avLst/>
          </a:prstGeom>
          <a:solidFill>
            <a:schemeClr val="accent1"/>
          </a:solidFill>
          <a:ln/>
        </p:spPr>
      </p:sp>
      <p:pic>
        <p:nvPicPr>
          <p:cNvPr id="28" name="lock glyph" descr="preencoded.png">    </p:cNvPr>
          <p:cNvPicPr>
            <a:picLocks noChangeAspect="1"/>
          </p:cNvPicPr>
          <p:nvPr/>
        </p:nvPicPr>
        <p:blipFill>
          <a:blip r:embed="rId5"/>
          <a:stretch>
            <a:fillRect/>
          </a:stretch>
        </p:blipFill>
        <p:spPr>
          <a:xfrm>
            <a:off x="811530" y="3920490"/>
            <a:ext cx="251460" cy="251460"/>
          </a:xfrm>
          <a:prstGeom prst="rect">
            <a:avLst/>
          </a:prstGeom>
        </p:spPr>
      </p:pic>
      <p:sp>
        <p:nvSpPr>
          <p:cNvPr id="29" name="Text 22"/>
          <p:cNvSpPr txBox="1"/>
          <p:nvPr/>
        </p:nvSpPr>
        <p:spPr>
          <a:xfrm>
            <a:off x="1371600" y="3703320"/>
            <a:ext cx="7132320" cy="685800"/>
          </a:xfrm>
          <a:prstGeom prst="rect">
            <a:avLst/>
          </a:prstGeom>
          <a:noFill/>
          <a:ln/>
        </p:spPr>
        <p:txBody>
          <a:bodyPr wrap="square" lIns="0" tIns="0" rIns="0" bIns="0" rtlCol="0" anchor="ctr"/>
          <a:lstStyle/>
          <a:p>
            <a:pPr indent="0" marL="0">
              <a:buNone/>
            </a:pPr>
            <a:r>
              <a:rPr lang="en-US" sz="1400" dirty="0">
                <a:solidFill>
                  <a:schemeClr val="tx1"/>
                </a:solidFill>
              </a:rPr>
              <a:t>Someone who bypasses the app hits the same rules. The browser can't skip the audit log, and it never holds a full ID number.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Why not just Excel?</a:t>
            </a:r>
            <a:endParaRPr lang="en-US" sz="3200" dirty="0"/>
          </a:p>
        </p:txBody>
      </p:sp>
      <p:graphicFrame>
        <p:nvGraphicFramePr>
          <p:cNvPr id="12" name="Excel comparison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383280"/>
                <a:gridCol w="1188720"/>
                <a:gridCol w="3657600"/>
              </a:tblGrid>
              <a:tr h="457200">
                <a:tc>
                  <a:txBody>
                    <a:bodyPr/>
                    <a:lstStyle/>
                    <a:p>
                      <a:pPr indent="0" marL="0">
                        <a:buNone/>
                      </a:pPr>
                      <a:r>
                        <a:rPr lang="en-US" sz="1400" b="1" dirty="0">
                          <a:solidFill>
                            <a:schemeClr val="bg1"/>
                          </a:solidFill>
                        </a:rPr>
                        <a:t>What the team needs</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Excel</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Student360</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accent1"/>
                    </a:solidFill>
                  </a:tcPr>
                </a:tc>
              </a:tr>
              <a:tr h="457200">
                <a:tc>
                  <a:txBody>
                    <a:bodyPr/>
                    <a:lstStyle/>
                    <a:p>
                      <a:pPr indent="0" marL="0">
                        <a:buNone/>
                      </a:pPr>
                      <a:r>
                        <a:rPr lang="en-US" sz="1400" dirty="0">
                          <a:solidFill>
                            <a:schemeClr val="tx1"/>
                          </a:solidFill>
                        </a:rPr>
                        <a:t>Hide ID numbers from some staff, not others</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No</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5"/>
                          </a:solidFill>
                        </a:rPr>
                        <a:t>Masked by default, revealed with a reason</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Owners and deadlines on every case</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Manual</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5"/>
                          </a:solidFill>
                        </a:rPr>
                        <a:t>Overdue cases flagged automatically</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Stop bad rows on import</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No</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5"/>
                          </a:solidFill>
                        </a:rPr>
                        <a:t>ID checks, duplicates and typos caught</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Reports that protect individuals</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Manual</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5"/>
                          </a:solidFill>
                        </a:rPr>
                        <a:t>Counts under 5 hidden</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Prove nobody changed the history</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No</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5"/>
                          </a:solidFill>
                        </a:rPr>
                        <a:t>Fingerprinted audit log</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One current version</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Copies</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5"/>
                          </a:solidFill>
                        </a:rPr>
                        <a:t>One database</a:t>
                      </a:r>
                      <a:endParaRPr lang="en-US" sz="1400" dirty="0"/>
                    </a:p>
                  </a:txBody>
                  <a:tcPr marL="109728" marR="109728" marT="0" marB="0" anchor="ctr">
                    <a:lnL w="9525" cap="flat" cmpd="sng" algn="ctr">
                      <a:solidFill>
                        <a:srgbClr val="D9E1DE"/>
                      </a:solidFill>
                      <a:prstDash val="solid"/>
                      <a:round/>
                      <a:headEnd type="none" w="med" len="med"/>
                      <a:tailEnd type="none" w="med" len="med"/>
                    </a:lnL>
                    <a:lnR w="9525" cap="flat" cmpd="sng" algn="ctr">
                      <a:solidFill>
                        <a:srgbClr val="D9E1DE"/>
                      </a:solidFill>
                      <a:prstDash val="solid"/>
                      <a:round/>
                      <a:headEnd type="none" w="med" len="med"/>
                      <a:tailEnd type="none" w="med" len="med"/>
                    </a:lnR>
                    <a:lnT w="9525" cap="flat" cmpd="sng" algn="ctr">
                      <a:solidFill>
                        <a:srgbClr val="D9E1DE"/>
                      </a:solidFill>
                      <a:prstDash val="solid"/>
                      <a:round/>
                      <a:headEnd type="none" w="med" len="med"/>
                      <a:tailEnd type="none" w="med" len="med"/>
                    </a:lnT>
                    <a:lnB w="9525" cap="flat" cmpd="sng" algn="ctr">
                      <a:solidFill>
                        <a:srgbClr val="D9E1D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869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92608"/>
            <a:ext cx="8229600" cy="640080"/>
          </a:xfrm>
          <a:prstGeom prst="rect">
            <a:avLst/>
          </a:prstGeom>
          <a:noFill/>
          <a:ln/>
        </p:spPr>
        <p:txBody>
          <a:bodyPr wrap="square" lIns="0" tIns="0" rIns="0" bIns="0" rtlCol="0" anchor="ctr"/>
          <a:lstStyle/>
          <a:p>
            <a:pPr algn="l" indent="0" marL="0">
              <a:buNone/>
            </a:pPr>
            <a:r>
              <a:rPr lang="en-US" sz="3200" b="1" dirty="0">
                <a:solidFill>
                  <a:schemeClr val="bg1"/>
                </a:solidFill>
              </a:rPr>
              <a:t>What's next</a:t>
            </a:r>
            <a:endParaRPr lang="en-US" sz="3200" dirty="0"/>
          </a:p>
        </p:txBody>
      </p:sp>
      <p:sp>
        <p:nvSpPr>
          <p:cNvPr id="3" name="next 1 circle"/>
          <p:cNvSpPr/>
          <p:nvPr/>
        </p:nvSpPr>
        <p:spPr>
          <a:xfrm>
            <a:off x="457200" y="1188720"/>
            <a:ext cx="438912" cy="438912"/>
          </a:xfrm>
          <a:prstGeom prst="ellipse">
            <a:avLst/>
          </a:prstGeom>
          <a:solidFill>
            <a:schemeClr val="accent2"/>
          </a:solidFill>
          <a:ln/>
        </p:spPr>
      </p:sp>
      <p:sp>
        <p:nvSpPr>
          <p:cNvPr id="4" name="Text 2"/>
          <p:cNvSpPr txBox="1"/>
          <p:nvPr/>
        </p:nvSpPr>
        <p:spPr>
          <a:xfrm>
            <a:off x="457200" y="1188720"/>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097280" y="1188720"/>
            <a:ext cx="7589520" cy="438912"/>
          </a:xfrm>
          <a:prstGeom prst="rect">
            <a:avLst/>
          </a:prstGeom>
          <a:noFill/>
          <a:ln/>
        </p:spPr>
        <p:txBody>
          <a:bodyPr wrap="square" lIns="0" tIns="0" rIns="0" bIns="0" rtlCol="0" anchor="ctr"/>
          <a:lstStyle/>
          <a:p>
            <a:pPr indent="0" marL="0">
              <a:buNone/>
            </a:pPr>
            <a:r>
              <a:rPr lang="en-US" sz="1700" dirty="0">
                <a:solidFill>
                  <a:schemeClr val="bg1"/>
                </a:solidFill>
              </a:rPr>
              <a:t>Confirm users, pain points and success measures with the client</a:t>
            </a:r>
            <a:endParaRPr lang="en-US" sz="1700" dirty="0"/>
          </a:p>
        </p:txBody>
      </p:sp>
      <p:sp>
        <p:nvSpPr>
          <p:cNvPr id="6" name="next 2 circle"/>
          <p:cNvSpPr/>
          <p:nvPr/>
        </p:nvSpPr>
        <p:spPr>
          <a:xfrm>
            <a:off x="457200" y="1865376"/>
            <a:ext cx="438912" cy="438912"/>
          </a:xfrm>
          <a:prstGeom prst="ellipse">
            <a:avLst/>
          </a:prstGeom>
          <a:solidFill>
            <a:schemeClr val="accent2"/>
          </a:solidFill>
          <a:ln/>
        </p:spPr>
      </p:sp>
      <p:sp>
        <p:nvSpPr>
          <p:cNvPr id="7" name="Text 5"/>
          <p:cNvSpPr txBox="1"/>
          <p:nvPr/>
        </p:nvSpPr>
        <p:spPr>
          <a:xfrm>
            <a:off x="457200" y="1865376"/>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8" name="Text 6"/>
          <p:cNvSpPr txBox="1"/>
          <p:nvPr/>
        </p:nvSpPr>
        <p:spPr>
          <a:xfrm>
            <a:off x="1097280" y="1865376"/>
            <a:ext cx="7589520" cy="438912"/>
          </a:xfrm>
          <a:prstGeom prst="rect">
            <a:avLst/>
          </a:prstGeom>
          <a:noFill/>
          <a:ln/>
        </p:spPr>
        <p:txBody>
          <a:bodyPr wrap="square" lIns="0" tIns="0" rIns="0" bIns="0" rtlCol="0" anchor="ctr"/>
          <a:lstStyle/>
          <a:p>
            <a:pPr indent="0" marL="0">
              <a:buNone/>
            </a:pPr>
            <a:r>
              <a:rPr lang="en-US" sz="1700" dirty="0">
                <a:solidFill>
                  <a:schemeClr val="bg1"/>
                </a:solidFill>
              </a:rPr>
              <a:t>Add MFA, session timeouts and per-institution access</a:t>
            </a:r>
            <a:endParaRPr lang="en-US" sz="1700" dirty="0"/>
          </a:p>
        </p:txBody>
      </p:sp>
      <p:sp>
        <p:nvSpPr>
          <p:cNvPr id="9" name="next 3 circle"/>
          <p:cNvSpPr/>
          <p:nvPr/>
        </p:nvSpPr>
        <p:spPr>
          <a:xfrm>
            <a:off x="457200" y="2542032"/>
            <a:ext cx="438912" cy="438912"/>
          </a:xfrm>
          <a:prstGeom prst="ellipse">
            <a:avLst/>
          </a:prstGeom>
          <a:solidFill>
            <a:schemeClr val="accent2"/>
          </a:solidFill>
          <a:ln/>
        </p:spPr>
      </p:sp>
      <p:sp>
        <p:nvSpPr>
          <p:cNvPr id="10" name="Text 8"/>
          <p:cNvSpPr txBox="1"/>
          <p:nvPr/>
        </p:nvSpPr>
        <p:spPr>
          <a:xfrm>
            <a:off x="457200" y="2542032"/>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1" name="Text 9"/>
          <p:cNvSpPr txBox="1"/>
          <p:nvPr/>
        </p:nvSpPr>
        <p:spPr>
          <a:xfrm>
            <a:off x="1097280" y="2542032"/>
            <a:ext cx="7589520" cy="438912"/>
          </a:xfrm>
          <a:prstGeom prst="rect">
            <a:avLst/>
          </a:prstGeom>
          <a:noFill/>
          <a:ln/>
        </p:spPr>
        <p:txBody>
          <a:bodyPr wrap="square" lIns="0" tIns="0" rIns="0" bIns="0" rtlCol="0" anchor="ctr"/>
          <a:lstStyle/>
          <a:p>
            <a:pPr indent="0" marL="0">
              <a:buNone/>
            </a:pPr>
            <a:r>
              <a:rPr lang="en-US" sz="1700" dirty="0">
                <a:solidFill>
                  <a:schemeClr val="bg1"/>
                </a:solidFill>
              </a:rPr>
              <a:t>Agree a hosting region (Supabase has no South African region yet)</a:t>
            </a:r>
            <a:endParaRPr lang="en-US" sz="1700" dirty="0"/>
          </a:p>
        </p:txBody>
      </p:sp>
      <p:sp>
        <p:nvSpPr>
          <p:cNvPr id="12" name="next 4 circle"/>
          <p:cNvSpPr/>
          <p:nvPr/>
        </p:nvSpPr>
        <p:spPr>
          <a:xfrm>
            <a:off x="457200" y="3218688"/>
            <a:ext cx="438912" cy="438912"/>
          </a:xfrm>
          <a:prstGeom prst="ellipse">
            <a:avLst/>
          </a:prstGeom>
          <a:solidFill>
            <a:schemeClr val="accent2"/>
          </a:solidFill>
          <a:ln/>
        </p:spPr>
      </p:sp>
      <p:sp>
        <p:nvSpPr>
          <p:cNvPr id="13" name="Text 11"/>
          <p:cNvSpPr txBox="1"/>
          <p:nvPr/>
        </p:nvSpPr>
        <p:spPr>
          <a:xfrm>
            <a:off x="457200" y="3218688"/>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4" name="Text 12"/>
          <p:cNvSpPr txBox="1"/>
          <p:nvPr/>
        </p:nvSpPr>
        <p:spPr>
          <a:xfrm>
            <a:off x="1097280" y="3218688"/>
            <a:ext cx="7589520" cy="438912"/>
          </a:xfrm>
          <a:prstGeom prst="rect">
            <a:avLst/>
          </a:prstGeom>
          <a:noFill/>
          <a:ln/>
        </p:spPr>
        <p:txBody>
          <a:bodyPr wrap="square" lIns="0" tIns="0" rIns="0" bIns="0" rtlCol="0" anchor="ctr"/>
          <a:lstStyle/>
          <a:p>
            <a:pPr indent="0" marL="0">
              <a:buNone/>
            </a:pPr>
            <a:r>
              <a:rPr lang="en-US" sz="1700" dirty="0">
                <a:solidFill>
                  <a:schemeClr val="bg1"/>
                </a:solidFill>
              </a:rPr>
              <a:t>Run a POPIA assessment with the client's information officer</a:t>
            </a:r>
            <a:endParaRPr lang="en-US" sz="1700" dirty="0"/>
          </a:p>
        </p:txBody>
      </p:sp>
      <p:sp>
        <p:nvSpPr>
          <p:cNvPr id="15" name="next 5 circle"/>
          <p:cNvSpPr/>
          <p:nvPr/>
        </p:nvSpPr>
        <p:spPr>
          <a:xfrm>
            <a:off x="457200" y="3895344"/>
            <a:ext cx="438912" cy="438912"/>
          </a:xfrm>
          <a:prstGeom prst="ellipse">
            <a:avLst/>
          </a:prstGeom>
          <a:solidFill>
            <a:schemeClr val="accent2"/>
          </a:solidFill>
          <a:ln/>
        </p:spPr>
      </p:sp>
      <p:sp>
        <p:nvSpPr>
          <p:cNvPr id="16" name="Text 14"/>
          <p:cNvSpPr txBox="1"/>
          <p:nvPr/>
        </p:nvSpPr>
        <p:spPr>
          <a:xfrm>
            <a:off x="457200" y="3895344"/>
            <a:ext cx="438912" cy="438912"/>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17" name="Text 15"/>
          <p:cNvSpPr txBox="1"/>
          <p:nvPr/>
        </p:nvSpPr>
        <p:spPr>
          <a:xfrm>
            <a:off x="1097280" y="3895344"/>
            <a:ext cx="7589520" cy="438912"/>
          </a:xfrm>
          <a:prstGeom prst="rect">
            <a:avLst/>
          </a:prstGeom>
          <a:noFill/>
          <a:ln/>
        </p:spPr>
        <p:txBody>
          <a:bodyPr wrap="square" lIns="0" tIns="0" rIns="0" bIns="0" rtlCol="0" anchor="ctr"/>
          <a:lstStyle/>
          <a:p>
            <a:pPr indent="0" marL="0">
              <a:buNone/>
            </a:pPr>
            <a:r>
              <a:rPr lang="en-US" sz="1700" dirty="0">
                <a:solidFill>
                  <a:schemeClr val="bg1"/>
                </a:solidFill>
              </a:rPr>
              <a:t>Pilot with authorised users before any real data goes in</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DB5A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udent360">
  <a:themeElements>
    <a:clrScheme name="Student360">
      <a:dk1>
        <a:srgbClr val="13201D"/>
      </a:dk1>
      <a:lt1>
        <a:srgbClr val="FFFFFF"/>
      </a:lt1>
      <a:dk2>
        <a:srgbClr val="10201C"/>
      </a:dk2>
      <a:lt2>
        <a:srgbClr val="F2F5F4"/>
      </a:lt2>
      <a:accent1>
        <a:srgbClr val="0D6A5B"/>
      </a:accent1>
      <a:accent2>
        <a:srgbClr val="4DB5A0"/>
      </a:accent2>
      <a:accent3>
        <a:srgbClr val="9A5B00"/>
      </a:accent3>
      <a:accent4>
        <a:srgbClr val="B3261E"/>
      </a:accent4>
      <a:accent5>
        <a:srgbClr val="1D7748"/>
      </a:accent5>
      <a:accent6>
        <a:srgbClr val="3F78C4"/>
      </a:accent6>
      <a:hlink>
        <a:srgbClr val="0D6A5B"/>
      </a:hlink>
      <a:folHlink>
        <a:srgbClr val="586966"/>
      </a:folHlink>
    </a:clrScheme>
    <a:fontScheme name="Student360">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Mdaka Advanced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Student360</dc:title>
  <dc:subject>PptxGenJS Presentation</dc:subject>
  <dc:creator>Mdaka Advanced Technologies</dc:creator>
  <cp:lastModifiedBy>Mdaka Advanced Technologies</cp:lastModifiedBy>
  <cp:revision>1</cp:revision>
  <dcterms:created xsi:type="dcterms:W3CDTF">2026-10-17T13:09:54Z</dcterms:created>
  <dcterms:modified xsi:type="dcterms:W3CDTF">2026-10-17T13:09:54Z</dcterms:modified>
</cp:coreProperties>
</file>